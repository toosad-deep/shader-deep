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0" r:id="rId15"/>
  </p:sldIdLst>
  <p:sldSz cx="12192000" cy="6858000"/>
  <p:notesSz cx="6858000" cy="9144000"/>
  <p:embeddedFontLst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封面为 shaderSkill/aurora-phenomenon-20260907/captures/final-A-t18.png，真实浏览器渲染。该案例为极光现象探索，用户确认范围见 evidence/h4-acceptance.json，不是原图高保真复刻。架构依据截至 2026-09-15 的 shader-deep 本地源代码与记录。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依据：ShaderGen/README.md、shaderSkill/skills/orchestrate-raster-to-shader/SKILL.md、shader-deep/apps/shader_deep/README.md。此为个人工作主线总结，不将仓库整体能力升级为独立个人所有权，也不声称 Skill 自动迁移成 Agent。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依据：ShaderGen/README.md、src/agent/app/nodes/layered_direct/ARCHITECTURE.md。模型输出 LayeredShaderSpec/LayerPatch，确定性代码负责编译成 ShaderProgramSpec、validate、draw、receipt/attestation、evaluate/select/finalize。当前渲染能力为 WebGL1 静态无纹理，multipass/hybrid 仅记为能力限制。这里没有给出跨项目质量提升指标。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依据：shaderSkill/skills/orchestrate-raster-to-shader/SKILL.md、analyze-raster-for-shader/SKILL.md。H0-H4 分别约束目标、拆解/表示、实现范围、方向与制品验收。研究为条件分支，现象探索可不做参考适配。图示是 Skill 工作方法，不表述为 shader-deep 已有全套持久化门禁或暂停恢复。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图像：aurora-phenomenon-20260907/captures/X-t6.png、Y-t6.png、Z-t6.png。机制与共同条件来自 strategy-ledger.json，candidate_entries c01/c02/c03。H3 先匿名选择，再披露机制与资源后知情确认 c03。所有预览为浏览器实际渲染，非生成式示意图。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依据：aurora-phenomenon-20260907/evidence/refinement-ledger.json、h4-acceptance.json、README.md。图像为 captures/refinement-r1-board.png 原始页面截图，展示原版 Z、A、B。参数 uFilamentVariation=-0.35，最终 Z-r1-A 已记录用户确认；其适用范围为 960×540、WebGL2、24 秒循环的现象探索。规律性诊断变化不是质量提升比例，因此未作为收益指标展示。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依据：aurora-v2-5a7f1003-bakeoff/README.md、contracts/reference-result.json、contracts/reference-validation.json。图片：output/board/reference-display.png 与 output/captures/reference-r3.png。H3 选择 slot-sheets 后完成三轮适配，技术验证通过但 H4 尚未获得。该案例与前页 phenomenon exploration 是不同运行，不能继承前页验收。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依据：apps/shader_deep/README.md、src/shader_deep/agents/analysis.py、agents/generation.py、context/、blackboard.py、tools/session.py。图中共用指复用机制和数据模型，两个 CLI 独立运行不会自动共享一个持久化会话。渲染器详情在生成流程页。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依据：src/shader_deep/agents/generation.py、tools/render.py、tools/finish.py、middleware.py、README.md。WebGL2 单 Pass、GLSL ES 3.00、无外部纹理。finish 检查 successful 和 presented 集合，之后读取候选文件，不让模型重写最终 GLSL。3 次为默认渲染预算，模型调用轮数另有限制，完成自检不代表视觉验收。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依据：documents/png-to-shader/多视角分析.md、analysis/session.py、worker.py、validation.py。四个视角为预置配置，并非每张图都固定全部派发；主 Agent 可创建新配置。默认 max_tasks=6、max_parallel=3、每子任务 max_worker_calls=3、主 Agent max_main_calls=8。报告由执行器集中写入黑板，实例不直接修改共享状态。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依据：schemas.py、blackboard.py、context/generation.py、context/analysis.py、artifacts.py。箭头表示主要来源与引用关系，Result 同时绑定 Task。read_task 根据当前任务读取目标、基线、指定候选和相关结果，图示不是每条结果都只能引用单一候选。黑板记录存在不等于自动模型可见。当前快照不是完整会话 checkpoint。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依据：documents/png-to-shader/分层生成流程.md、diagrams/architecture.mmd（V3 待实现设计）及 README.md 当前边界。分析模块已有独立多视角规划与综合，但持续实验决策与生成调度待接入。生成模块已有真实闭环。独立视觉评审、全局编排、采用回退和暂停恢复属于规划，图中虚线保留该边界。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/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rPr/>
            </a:fld>
            <a:endParaRPr sz="10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/>
      <p:sp>
        <p:nvSpPr>
          <p:cNvPr id="9" name="Text Placeholder 2"/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rPr/>
            </a:fld>
            <a:endParaRPr sz="1000"/>
          </a:p>
        </p:txBody>
      </p:sp>
      <p:sp>
        <p:nvSpPr>
          <p:cNvPr id="12" name="Text Placeholder 2"/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/>
      <p:sp>
        <p:nvSpPr>
          <p:cNvPr id="11" name="Text Placeholder 2"/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rPr/>
            </a:fld>
            <a:endParaRPr sz="1000"/>
          </a:p>
        </p:txBody>
      </p:sp>
      <p:sp>
        <p:nvSpPr>
          <p:cNvPr id="14" name="Text Placeholder 2"/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/>
      <p:sp>
        <p:nvSpPr>
          <p:cNvPr id="11" name="Text Placeholder 2"/>
          <p:cNvSpPr>
            <a:spLocks noGrp="1"/>
          </p:cNvSpPr>
          <p:nvPr>
            <p:ph idx="1" hasCustomPrompt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rPr/>
            </a:fld>
            <a:endParaRPr sz="10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2" hasCustomPrompt="1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idx="13" hasCustomPrompt="1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idx="14" hasCustomPrompt="1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/>
      <p:sp>
        <p:nvSpPr>
          <p:cNvPr id="8" name="Footer Placeholder 4"/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rPr/>
            </a:fld>
            <a:endParaRPr sz="10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/>
      <p:sp>
        <p:nvSpPr>
          <p:cNvPr id="7" name="Footer Placeholder 4"/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rPr/>
            </a:fld>
            <a:endParaRPr sz="10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rPr/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0125" y="1193304"/>
            <a:ext cx="7000875" cy="3937992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57200" y="1638300"/>
            <a:ext cx="666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5550" b="0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5550" b="0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shader-deep</a:t>
            </a:r>
            <a:endParaRPr sz="5550" b="0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57200" y="2762250"/>
            <a:ext cx="6477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4200" b="0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4200" b="0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架构与实践总结</a:t>
            </a:r>
            <a:endParaRPr sz="4200" b="0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4152900"/>
            <a:ext cx="5810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2175" b="0">
                <a:solidFill>
                  <a:srgbClr val="B9D9D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75" b="0">
                <a:solidFill>
                  <a:srgbClr val="B9D9D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PNG 到 Shader 的项目演进</a:t>
            </a:r>
            <a:endParaRPr sz="2175" b="0">
              <a:solidFill>
                <a:srgbClr val="B9D9D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2175" b="0">
                <a:solidFill>
                  <a:srgbClr val="B9D9D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75" b="0">
                <a:solidFill>
                  <a:srgbClr val="B9D9D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Skill 实验与 Agent 工程实现</a:t>
            </a:r>
            <a:endParaRPr sz="2175" b="0">
              <a:solidFill>
                <a:srgbClr val="B9D9D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6019800"/>
            <a:ext cx="7620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650" b="0">
                <a:solidFill>
                  <a:srgbClr val="8FB4B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8FB4B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实习工作总结附件   2026.09</a:t>
            </a:r>
            <a:endParaRPr sz="1650" b="0">
              <a:solidFill>
                <a:srgbClr val="8FB4B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" name="Google Shape;532;p58"/>
          <p:cNvSpPr>
            <a:spLocks noGrp="1"/>
          </p:cNvSpPr>
          <p:nvPr/>
        </p:nvSpPr>
        <p:spPr>
          <a:xfrm>
            <a:off x="10763250" y="6419850"/>
            <a:ext cx="971550" cy="238125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 marL="0" indent="0" algn="r">
              <a:spcBef>
                <a:spcPts val="0"/>
              </a:spcBef>
              <a:buNone/>
              <a:defRPr sz="1275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fld id="{408415C2-DCFE-3B21-E49A-06717F186C15}" type="slidenum">
              <a:rPr sz="1275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</a:fld>
            <a:endParaRPr sz="1275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3" name="Google Shape;533;p58"/>
          <p:cNvSpPr>
            <a:spLocks noGrp="1"/>
          </p:cNvSpPr>
          <p:nvPr/>
        </p:nvSpPr>
        <p:spPr>
          <a:xfrm>
            <a:off x="457200" y="352425"/>
            <a:ext cx="11277600" cy="723900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  <a:buNone/>
              <a:defRPr sz="32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2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三阶段演进：实践、Skill 与系统实现</a:t>
            </a:r>
            <a:endParaRPr sz="3225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4" name="矩形 533"/>
          <p:cNvSpPr>
            <a:spLocks noGrp="1"/>
          </p:cNvSpPr>
          <p:nvPr/>
        </p:nvSpPr>
        <p:spPr>
          <a:xfrm>
            <a:off x="457200" y="1133475"/>
            <a:ext cx="112776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每一阶段都在回答下一轮迭代中暴露的具体问题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5" name="矩形 534"/>
          <p:cNvSpPr>
            <a:spLocks noGrp="1"/>
          </p:cNvSpPr>
          <p:nvPr/>
        </p:nvSpPr>
        <p:spPr>
          <a:xfrm>
            <a:off x="457200" y="1971675"/>
            <a:ext cx="11430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3900" b="1">
                <a:solidFill>
                  <a:srgbClr val="087F8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900" b="1">
                <a:solidFill>
                  <a:srgbClr val="087F8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01</a:t>
            </a:r>
            <a:endParaRPr sz="3900" b="1">
              <a:solidFill>
                <a:srgbClr val="087F8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6" name="圆角矩形 535"/>
          <p:cNvSpPr>
            <a:spLocks noGrp="1"/>
          </p:cNvSpPr>
          <p:nvPr/>
        </p:nvSpPr>
        <p:spPr>
          <a:xfrm>
            <a:off x="457200" y="2876550"/>
            <a:ext cx="3429000" cy="762000"/>
          </a:xfrm>
          <a:prstGeom prst="roundRect">
            <a:avLst>
              <a:gd name="adj" fmla="val 8750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23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项目实践</a:t>
            </a:r>
          </a:p>
        </p:txBody>
      </p:sp>
      <p:sp>
        <p:nvSpPr>
          <p:cNvPr id="537" name="矩形 536"/>
          <p:cNvSpPr>
            <a:spLocks noGrp="1"/>
          </p:cNvSpPr>
          <p:nvPr/>
        </p:nvSpPr>
        <p:spPr>
          <a:xfrm>
            <a:off x="457200" y="3867150"/>
            <a:ext cx="34290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950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950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ShaderGen 等 PNG 到 Shader 项目</a:t>
            </a:r>
            <a:endParaRPr sz="1950" b="1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8" name="矩形 537"/>
          <p:cNvSpPr>
            <a:spLocks noGrp="1"/>
          </p:cNvSpPr>
          <p:nvPr/>
        </p:nvSpPr>
        <p:spPr>
          <a:xfrm>
            <a:off x="457200" y="4762500"/>
            <a:ext cx="34290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形成图像拆解、生成、渲染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和有界优化链路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9" name="矩形 538"/>
          <p:cNvSpPr>
            <a:spLocks noGrp="1"/>
          </p:cNvSpPr>
          <p:nvPr/>
        </p:nvSpPr>
        <p:spPr>
          <a:xfrm>
            <a:off x="4371975" y="1971675"/>
            <a:ext cx="11430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3900" b="1">
                <a:solidFill>
                  <a:srgbClr val="087F8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900" b="1">
                <a:solidFill>
                  <a:srgbClr val="087F8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02</a:t>
            </a:r>
            <a:endParaRPr sz="3900" b="1">
              <a:solidFill>
                <a:srgbClr val="087F8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40" name="圆角矩形 539"/>
          <p:cNvSpPr>
            <a:spLocks noGrp="1"/>
          </p:cNvSpPr>
          <p:nvPr/>
        </p:nvSpPr>
        <p:spPr>
          <a:xfrm>
            <a:off x="4371975" y="2876550"/>
            <a:ext cx="3429000" cy="762000"/>
          </a:xfrm>
          <a:prstGeom prst="roundRect">
            <a:avLst>
              <a:gd name="adj" fmla="val 8750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23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Skill 快速迭代</a:t>
            </a:r>
          </a:p>
        </p:txBody>
      </p:sp>
      <p:sp>
        <p:nvSpPr>
          <p:cNvPr id="541" name="矩形 540"/>
          <p:cNvSpPr>
            <a:spLocks noGrp="1"/>
          </p:cNvSpPr>
          <p:nvPr/>
        </p:nvSpPr>
        <p:spPr>
          <a:xfrm>
            <a:off x="4371975" y="3867150"/>
            <a:ext cx="34290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950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950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多视角分析与机制候选实验</a:t>
            </a:r>
            <a:endParaRPr sz="1950" b="1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42" name="矩形 541"/>
          <p:cNvSpPr>
            <a:spLocks noGrp="1"/>
          </p:cNvSpPr>
          <p:nvPr/>
        </p:nvSpPr>
        <p:spPr>
          <a:xfrm>
            <a:off x="4371975" y="4762500"/>
            <a:ext cx="34290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先比较表示方式，再做局部细化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保留真实预览与人工确认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43" name="矩形 542"/>
          <p:cNvSpPr>
            <a:spLocks noGrp="1"/>
          </p:cNvSpPr>
          <p:nvPr/>
        </p:nvSpPr>
        <p:spPr>
          <a:xfrm>
            <a:off x="8286750" y="1971675"/>
            <a:ext cx="11430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3900" b="1">
                <a:solidFill>
                  <a:srgbClr val="087F8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900" b="1">
                <a:solidFill>
                  <a:srgbClr val="087F8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03</a:t>
            </a:r>
            <a:endParaRPr sz="3900" b="1">
              <a:solidFill>
                <a:srgbClr val="087F8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44" name="圆角矩形 543"/>
          <p:cNvSpPr>
            <a:spLocks noGrp="1"/>
          </p:cNvSpPr>
          <p:nvPr/>
        </p:nvSpPr>
        <p:spPr>
          <a:xfrm>
            <a:off x="8286750" y="2876550"/>
            <a:ext cx="3429000" cy="762000"/>
          </a:xfrm>
          <a:prstGeom prst="roundRect">
            <a:avLst>
              <a:gd name="adj" fmla="val 8750"/>
            </a:avLst>
          </a:prstGeom>
          <a:solidFill>
            <a:srgbClr val="EAF5F5"/>
          </a:solidFill>
          <a:ln w="15240">
            <a:solidFill>
              <a:srgbClr val="087F8C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23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shader-deep</a:t>
            </a:r>
          </a:p>
        </p:txBody>
      </p:sp>
      <p:sp>
        <p:nvSpPr>
          <p:cNvPr id="545" name="矩形 544"/>
          <p:cNvSpPr>
            <a:spLocks noGrp="1"/>
          </p:cNvSpPr>
          <p:nvPr/>
        </p:nvSpPr>
        <p:spPr>
          <a:xfrm>
            <a:off x="8286750" y="3867150"/>
            <a:ext cx="34290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950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950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模块化 Agent 运行能力</a:t>
            </a:r>
            <a:endParaRPr sz="1950" b="1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46" name="矩形 545"/>
          <p:cNvSpPr>
            <a:spLocks noGrp="1"/>
          </p:cNvSpPr>
          <p:nvPr/>
        </p:nvSpPr>
        <p:spPr>
          <a:xfrm>
            <a:off x="8286750" y="4762500"/>
            <a:ext cx="34290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实现生成闭环与独立分析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逐步衔接任务、状态与反馈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564" name="直接箭头连接符 563"/>
          <p:cNvCxnSpPr>
            <a:stCxn id="536" idx="3"/>
            <a:endCxn id="540" idx="1"/>
          </p:cNvCxnSpPr>
          <p:nvPr/>
        </p:nvCxnSpPr>
        <p:spPr>
          <a:xfrm>
            <a:off x="3886200" y="3257550"/>
            <a:ext cx="485775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cxnSp>
        <p:nvCxnSpPr>
          <p:cNvPr id="565" name="直接箭头连接符 564"/>
          <p:cNvCxnSpPr>
            <a:stCxn id="540" idx="3"/>
            <a:endCxn id="544" idx="1"/>
          </p:cNvCxnSpPr>
          <p:nvPr/>
        </p:nvCxnSpPr>
        <p:spPr>
          <a:xfrm>
            <a:off x="7800975" y="3257550"/>
            <a:ext cx="485775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" name="Google Shape;532;p58"/>
          <p:cNvSpPr>
            <a:spLocks noGrp="1"/>
          </p:cNvSpPr>
          <p:nvPr/>
        </p:nvSpPr>
        <p:spPr>
          <a:xfrm>
            <a:off x="10763250" y="6419850"/>
            <a:ext cx="971550" cy="238125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 marL="0" indent="0" algn="r">
              <a:spcBef>
                <a:spcPts val="0"/>
              </a:spcBef>
              <a:buNone/>
              <a:defRPr sz="1275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fld id="{5E2288D0-CC2E-2A8F-5B1F-6C2741DDFDA7}" type="slidenum">
              <a:rPr sz="1275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</a:fld>
            <a:endParaRPr sz="1275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3" name="Google Shape;533;p58"/>
          <p:cNvSpPr>
            <a:spLocks noGrp="1"/>
          </p:cNvSpPr>
          <p:nvPr/>
        </p:nvSpPr>
        <p:spPr>
          <a:xfrm>
            <a:off x="457200" y="352425"/>
            <a:ext cx="11277600" cy="723900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  <a:buNone/>
              <a:defRPr sz="32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2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前期 ShaderGen：建立可执行的生成闭环</a:t>
            </a:r>
            <a:endParaRPr sz="3225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4" name="矩形 533"/>
          <p:cNvSpPr>
            <a:spLocks noGrp="1"/>
          </p:cNvSpPr>
          <p:nvPr/>
        </p:nvSpPr>
        <p:spPr>
          <a:xfrm>
            <a:off x="457200" y="1133475"/>
            <a:ext cx="112776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模型提出结构和候选，程序负责验证、真实渲染与有界选择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5" name="圆角矩形 534"/>
          <p:cNvSpPr>
            <a:spLocks noGrp="1"/>
          </p:cNvSpPr>
          <p:nvPr/>
        </p:nvSpPr>
        <p:spPr>
          <a:xfrm>
            <a:off x="457200" y="2238375"/>
            <a:ext cx="1619250" cy="904875"/>
          </a:xfrm>
          <a:prstGeom prst="roundRect">
            <a:avLst>
              <a:gd name="adj" fmla="val 7368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参考 PNG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用户要求</a:t>
            </a:r>
          </a:p>
        </p:txBody>
      </p:sp>
      <p:sp>
        <p:nvSpPr>
          <p:cNvPr id="536" name="圆角矩形 535"/>
          <p:cNvSpPr>
            <a:spLocks noGrp="1"/>
          </p:cNvSpPr>
          <p:nvPr/>
        </p:nvSpPr>
        <p:spPr>
          <a:xfrm>
            <a:off x="2571750" y="2238375"/>
            <a:ext cx="1857375" cy="904875"/>
          </a:xfrm>
          <a:prstGeom prst="roundRect">
            <a:avLst>
              <a:gd name="adj" fmla="val 7368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LayerPlan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分层结构</a:t>
            </a:r>
          </a:p>
        </p:txBody>
      </p:sp>
      <p:sp>
        <p:nvSpPr>
          <p:cNvPr id="537" name="圆角矩形 536"/>
          <p:cNvSpPr>
            <a:spLocks noGrp="1"/>
          </p:cNvSpPr>
          <p:nvPr/>
        </p:nvSpPr>
        <p:spPr>
          <a:xfrm>
            <a:off x="4924425" y="2238375"/>
            <a:ext cx="2286000" cy="904875"/>
          </a:xfrm>
          <a:prstGeom prst="roundRect">
            <a:avLst>
              <a:gd name="adj" fmla="val 7368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Initial / Refine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代码与单层补丁</a:t>
            </a:r>
          </a:p>
        </p:txBody>
      </p:sp>
      <p:sp>
        <p:nvSpPr>
          <p:cNvPr id="538" name="圆角矩形 537"/>
          <p:cNvSpPr>
            <a:spLocks noGrp="1"/>
          </p:cNvSpPr>
          <p:nvPr/>
        </p:nvSpPr>
        <p:spPr>
          <a:xfrm>
            <a:off x="7705725" y="2238375"/>
            <a:ext cx="2095500" cy="904875"/>
          </a:xfrm>
          <a:prstGeom prst="roundRect">
            <a:avLst>
              <a:gd name="adj" fmla="val 7368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编译与校验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WebGL1 渲染</a:t>
            </a:r>
          </a:p>
        </p:txBody>
      </p:sp>
      <p:sp>
        <p:nvSpPr>
          <p:cNvPr id="539" name="圆角矩形 538"/>
          <p:cNvSpPr>
            <a:spLocks noGrp="1"/>
          </p:cNvSpPr>
          <p:nvPr/>
        </p:nvSpPr>
        <p:spPr>
          <a:xfrm>
            <a:off x="10296525" y="2238375"/>
            <a:ext cx="1428750" cy="904875"/>
          </a:xfrm>
          <a:prstGeom prst="roundRect">
            <a:avLst>
              <a:gd name="adj" fmla="val 7368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评估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候选选择</a:t>
            </a:r>
          </a:p>
        </p:txBody>
      </p:sp>
      <p:cxnSp>
        <p:nvCxnSpPr>
          <p:cNvPr id="566" name="直接箭头连接符 565"/>
          <p:cNvCxnSpPr>
            <a:stCxn id="535" idx="3"/>
            <a:endCxn id="536" idx="1"/>
          </p:cNvCxnSpPr>
          <p:nvPr/>
        </p:nvCxnSpPr>
        <p:spPr>
          <a:xfrm>
            <a:off x="2076450" y="2690813"/>
            <a:ext cx="495300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cxnSp>
        <p:nvCxnSpPr>
          <p:cNvPr id="567" name="直接箭头连接符 566"/>
          <p:cNvCxnSpPr>
            <a:stCxn id="536" idx="3"/>
            <a:endCxn id="537" idx="1"/>
          </p:cNvCxnSpPr>
          <p:nvPr/>
        </p:nvCxnSpPr>
        <p:spPr>
          <a:xfrm>
            <a:off x="4429125" y="2690813"/>
            <a:ext cx="495300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cxnSp>
        <p:nvCxnSpPr>
          <p:cNvPr id="568" name="直接箭头连接符 567"/>
          <p:cNvCxnSpPr>
            <a:stCxn id="537" idx="3"/>
            <a:endCxn id="538" idx="1"/>
          </p:cNvCxnSpPr>
          <p:nvPr/>
        </p:nvCxnSpPr>
        <p:spPr>
          <a:xfrm>
            <a:off x="7210425" y="2690813"/>
            <a:ext cx="495300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cxnSp>
        <p:nvCxnSpPr>
          <p:cNvPr id="569" name="直接箭头连接符 568"/>
          <p:cNvCxnSpPr>
            <a:stCxn id="538" idx="3"/>
            <a:endCxn id="539" idx="1"/>
          </p:cNvCxnSpPr>
          <p:nvPr/>
        </p:nvCxnSpPr>
        <p:spPr>
          <a:xfrm>
            <a:off x="9801225" y="2690813"/>
            <a:ext cx="495300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sp>
        <p:nvSpPr>
          <p:cNvPr id="544" name="圆角矩形 543"/>
          <p:cNvSpPr>
            <a:spLocks noGrp="1"/>
          </p:cNvSpPr>
          <p:nvPr/>
        </p:nvSpPr>
        <p:spPr>
          <a:xfrm>
            <a:off x="9620250" y="4476750"/>
            <a:ext cx="2095500" cy="904875"/>
          </a:xfrm>
          <a:prstGeom prst="roundRect">
            <a:avLst>
              <a:gd name="adj" fmla="val 7368"/>
            </a:avLst>
          </a:prstGeom>
          <a:solidFill>
            <a:srgbClr val="EAF5F5"/>
          </a:solidFill>
          <a:ln w="15240">
            <a:solidFill>
              <a:srgbClr val="087F8C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选定制品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GLSL 与预览</a:t>
            </a:r>
          </a:p>
        </p:txBody>
      </p:sp>
      <p:cxnSp>
        <p:nvCxnSpPr>
          <p:cNvPr id="571" name="肘形连接符 570"/>
          <p:cNvCxnSpPr>
            <a:stCxn id="539" idx="2"/>
            <a:endCxn id="544" idx="0"/>
          </p:cNvCxnSpPr>
          <p:nvPr/>
        </p:nvCxnSpPr>
        <p:spPr>
          <a:xfrm flipH="1">
            <a:off x="10668000" y="3143250"/>
            <a:ext cx="342900" cy="1333500"/>
          </a:xfrm>
          <a:prstGeom prst="bentConnector4">
            <a:avLst>
              <a:gd name="adj1" fmla="val 0"/>
              <a:gd name="adj2" fmla="val 17143"/>
            </a:avLst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sp>
        <p:nvSpPr>
          <p:cNvPr id="546" name="矩形 545"/>
          <p:cNvSpPr>
            <a:spLocks noGrp="1"/>
          </p:cNvSpPr>
          <p:nvPr/>
        </p:nvSpPr>
        <p:spPr>
          <a:xfrm>
            <a:off x="11010900" y="314325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47" name="矩形 546"/>
          <p:cNvSpPr>
            <a:spLocks noGrp="1"/>
          </p:cNvSpPr>
          <p:nvPr/>
        </p:nvSpPr>
        <p:spPr>
          <a:xfrm>
            <a:off x="11010900" y="386715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48" name="矩形 547"/>
          <p:cNvSpPr>
            <a:spLocks noGrp="1"/>
          </p:cNvSpPr>
          <p:nvPr/>
        </p:nvSpPr>
        <p:spPr>
          <a:xfrm>
            <a:off x="6067425" y="386715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49" name="矩形 548"/>
          <p:cNvSpPr>
            <a:spLocks noGrp="1"/>
          </p:cNvSpPr>
          <p:nvPr/>
        </p:nvSpPr>
        <p:spPr>
          <a:xfrm>
            <a:off x="6067425" y="3143250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76" name="直接箭头连接符 575"/>
          <p:cNvCxnSpPr>
            <a:stCxn id="546" idx="2"/>
            <a:endCxn id="547" idx="0"/>
          </p:cNvCxnSpPr>
          <p:nvPr/>
        </p:nvCxnSpPr>
        <p:spPr>
          <a:xfrm>
            <a:off x="11011853" y="3145155"/>
            <a:ext cx="0" cy="721995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none" w="sm" len="sm"/>
          </a:ln>
        </p:spPr>
      </p:cxnSp>
      <p:cxnSp>
        <p:nvCxnSpPr>
          <p:cNvPr id="577" name="直接箭头连接符 576"/>
          <p:cNvCxnSpPr>
            <a:stCxn id="547" idx="1"/>
            <a:endCxn id="548" idx="3"/>
          </p:cNvCxnSpPr>
          <p:nvPr/>
        </p:nvCxnSpPr>
        <p:spPr>
          <a:xfrm flipH="1">
            <a:off x="6069330" y="3868103"/>
            <a:ext cx="4941570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none" w="sm" len="sm"/>
          </a:ln>
        </p:spPr>
      </p:cxnSp>
      <p:cxnSp>
        <p:nvCxnSpPr>
          <p:cNvPr id="578" name="直接箭头连接符 577"/>
          <p:cNvCxnSpPr>
            <a:stCxn id="548" idx="0"/>
            <a:endCxn id="549" idx="2"/>
          </p:cNvCxnSpPr>
          <p:nvPr/>
        </p:nvCxnSpPr>
        <p:spPr>
          <a:xfrm flipV="1">
            <a:off x="6068378" y="3145155"/>
            <a:ext cx="0" cy="721995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sp>
        <p:nvSpPr>
          <p:cNvPr id="553" name="矩形 552"/>
          <p:cNvSpPr>
            <a:spLocks noGrp="1"/>
          </p:cNvSpPr>
          <p:nvPr/>
        </p:nvSpPr>
        <p:spPr>
          <a:xfrm>
            <a:off x="5762625" y="4010025"/>
            <a:ext cx="466725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725" b="0">
                <a:solidFill>
                  <a:srgbClr val="2E5B9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0">
                <a:solidFill>
                  <a:srgbClr val="2E5B9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继续优化时，绑定当前候选与目标层</a:t>
            </a:r>
            <a:endParaRPr sz="1725" b="0">
              <a:solidFill>
                <a:srgbClr val="2E5B9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54" name="矩形 553"/>
          <p:cNvSpPr>
            <a:spLocks noGrp="1"/>
          </p:cNvSpPr>
          <p:nvPr/>
        </p:nvSpPr>
        <p:spPr>
          <a:xfrm>
            <a:off x="457200" y="4667250"/>
            <a:ext cx="4048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2100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积累的工程经验</a:t>
            </a:r>
            <a:endParaRPr sz="2100" b="1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55" name="矩形 554"/>
          <p:cNvSpPr>
            <a:spLocks noGrp="1"/>
          </p:cNvSpPr>
          <p:nvPr/>
        </p:nvSpPr>
        <p:spPr>
          <a:xfrm>
            <a:off x="457200" y="5191125"/>
            <a:ext cx="4048125" cy="1228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结构化输出、候选来源与渲染反馈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需要在同一轮任务中保持对应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56" name="矩形 555"/>
          <p:cNvSpPr>
            <a:spLocks noGrp="1"/>
          </p:cNvSpPr>
          <p:nvPr/>
        </p:nvSpPr>
        <p:spPr>
          <a:xfrm>
            <a:off x="4905375" y="466725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2100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暴露的关键问题</a:t>
            </a:r>
            <a:endParaRPr sz="2100" b="1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57" name="矩形 556"/>
          <p:cNvSpPr>
            <a:spLocks noGrp="1"/>
          </p:cNvSpPr>
          <p:nvPr/>
        </p:nvSpPr>
        <p:spPr>
          <a:xfrm>
            <a:off x="4905375" y="5191125"/>
            <a:ext cx="4095750" cy="1228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技术执行通过以后，仍需验证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表示方式与实际视觉效果是否合适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" name="Google Shape;532;p58"/>
          <p:cNvSpPr>
            <a:spLocks noGrp="1"/>
          </p:cNvSpPr>
          <p:nvPr/>
        </p:nvSpPr>
        <p:spPr>
          <a:xfrm>
            <a:off x="10763250" y="6419850"/>
            <a:ext cx="971550" cy="238125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 marL="0" indent="0" algn="r">
              <a:spcBef>
                <a:spcPts val="0"/>
              </a:spcBef>
              <a:buNone/>
              <a:defRPr sz="1275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fld id="{A916C8A4-264E-A515-D0A5-1BD127C40BC7}" type="slidenum">
              <a:rPr sz="1275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</a:fld>
            <a:endParaRPr sz="1275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3" name="Google Shape;533;p58"/>
          <p:cNvSpPr>
            <a:spLocks noGrp="1"/>
          </p:cNvSpPr>
          <p:nvPr/>
        </p:nvSpPr>
        <p:spPr>
          <a:xfrm>
            <a:off x="457200" y="352425"/>
            <a:ext cx="11277600" cy="723900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  <a:buNone/>
              <a:defRPr sz="32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2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Skill 工作流：先验证机制，再细化参数</a:t>
            </a:r>
            <a:endParaRPr sz="3225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4" name="矩形 533"/>
          <p:cNvSpPr>
            <a:spLocks noGrp="1"/>
          </p:cNvSpPr>
          <p:nvPr/>
        </p:nvSpPr>
        <p:spPr>
          <a:xfrm>
            <a:off x="457200" y="1133475"/>
            <a:ext cx="112776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将实践中的分析、试验和验收方式整理为可复用步骤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5" name="圆角矩形 534"/>
          <p:cNvSpPr>
            <a:spLocks noGrp="1"/>
          </p:cNvSpPr>
          <p:nvPr/>
        </p:nvSpPr>
        <p:spPr>
          <a:xfrm>
            <a:off x="457200" y="2314575"/>
            <a:ext cx="2419350" cy="819150"/>
          </a:xfrm>
          <a:prstGeom prst="roundRect">
            <a:avLst>
              <a:gd name="adj" fmla="val 8140"/>
            </a:avLst>
          </a:prstGeom>
          <a:solidFill>
            <a:srgbClr val="EAF5F5"/>
          </a:solidFill>
          <a:ln w="15240">
            <a:solidFill>
              <a:srgbClr val="087F8C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210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明确目标</a:t>
            </a:r>
          </a:p>
        </p:txBody>
      </p:sp>
      <p:sp>
        <p:nvSpPr>
          <p:cNvPr id="536" name="矩形 535"/>
          <p:cNvSpPr>
            <a:spLocks noGrp="1"/>
          </p:cNvSpPr>
          <p:nvPr/>
        </p:nvSpPr>
        <p:spPr>
          <a:xfrm>
            <a:off x="457200" y="3305175"/>
            <a:ext cx="24193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65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H0 目标与运行约束</a:t>
            </a:r>
            <a:endParaRPr sz="1650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7" name="圆角矩形 536"/>
          <p:cNvSpPr>
            <a:spLocks noGrp="1"/>
          </p:cNvSpPr>
          <p:nvPr/>
        </p:nvSpPr>
        <p:spPr>
          <a:xfrm>
            <a:off x="3409950" y="2314575"/>
            <a:ext cx="2419350" cy="819150"/>
          </a:xfrm>
          <a:prstGeom prst="roundRect">
            <a:avLst>
              <a:gd name="adj" fmla="val 8140"/>
            </a:avLst>
          </a:prstGeom>
          <a:solidFill>
            <a:srgbClr val="EAF5F5"/>
          </a:solidFill>
          <a:ln w="15240">
            <a:solidFill>
              <a:srgbClr val="087F8C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210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多视角拆解</a:t>
            </a:r>
          </a:p>
        </p:txBody>
      </p:sp>
      <p:sp>
        <p:nvSpPr>
          <p:cNvPr id="538" name="矩形 537"/>
          <p:cNvSpPr>
            <a:spLocks noGrp="1"/>
          </p:cNvSpPr>
          <p:nvPr/>
        </p:nvSpPr>
        <p:spPr>
          <a:xfrm>
            <a:off x="3409950" y="3305175"/>
            <a:ext cx="24193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65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H1 观察与机制假设</a:t>
            </a:r>
            <a:endParaRPr sz="1650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9" name="圆角矩形 538"/>
          <p:cNvSpPr>
            <a:spLocks noGrp="1"/>
          </p:cNvSpPr>
          <p:nvPr/>
        </p:nvSpPr>
        <p:spPr>
          <a:xfrm>
            <a:off x="6362700" y="2314575"/>
            <a:ext cx="2419350" cy="819150"/>
          </a:xfrm>
          <a:prstGeom prst="roundRect">
            <a:avLst>
              <a:gd name="adj" fmla="val 8140"/>
            </a:avLst>
          </a:prstGeom>
          <a:solidFill>
            <a:srgbClr val="EAF5F5"/>
          </a:solidFill>
          <a:ln w="15240">
            <a:solidFill>
              <a:srgbClr val="087F8C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210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机制候选实验</a:t>
            </a:r>
          </a:p>
        </p:txBody>
      </p:sp>
      <p:sp>
        <p:nvSpPr>
          <p:cNvPr id="540" name="矩形 539"/>
          <p:cNvSpPr>
            <a:spLocks noGrp="1"/>
          </p:cNvSpPr>
          <p:nvPr/>
        </p:nvSpPr>
        <p:spPr>
          <a:xfrm>
            <a:off x="6362700" y="3305175"/>
            <a:ext cx="24193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65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H2 方案与执行范围</a:t>
            </a:r>
            <a:endParaRPr sz="1650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41" name="圆角矩形 540"/>
          <p:cNvSpPr>
            <a:spLocks noGrp="1"/>
          </p:cNvSpPr>
          <p:nvPr/>
        </p:nvSpPr>
        <p:spPr>
          <a:xfrm>
            <a:off x="9315450" y="2314575"/>
            <a:ext cx="2419350" cy="819150"/>
          </a:xfrm>
          <a:prstGeom prst="roundRect">
            <a:avLst>
              <a:gd name="adj" fmla="val 8140"/>
            </a:avLst>
          </a:prstGeom>
          <a:solidFill>
            <a:srgbClr val="EAF5F5"/>
          </a:solidFill>
          <a:ln w="15240">
            <a:solidFill>
              <a:srgbClr val="087F8C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210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真实预览比较</a:t>
            </a:r>
          </a:p>
        </p:txBody>
      </p:sp>
      <p:sp>
        <p:nvSpPr>
          <p:cNvPr id="542" name="矩形 541"/>
          <p:cNvSpPr>
            <a:spLocks noGrp="1"/>
          </p:cNvSpPr>
          <p:nvPr/>
        </p:nvSpPr>
        <p:spPr>
          <a:xfrm>
            <a:off x="9315450" y="3305175"/>
            <a:ext cx="24193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65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H3 方向选择</a:t>
            </a:r>
            <a:endParaRPr sz="1650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578" name="直接箭头连接符 577"/>
          <p:cNvCxnSpPr>
            <a:stCxn id="535" idx="3"/>
            <a:endCxn id="537" idx="1"/>
          </p:cNvCxnSpPr>
          <p:nvPr/>
        </p:nvCxnSpPr>
        <p:spPr>
          <a:xfrm>
            <a:off x="2876550" y="2724150"/>
            <a:ext cx="533400" cy="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579" name="直接箭头连接符 578"/>
          <p:cNvCxnSpPr>
            <a:stCxn id="537" idx="3"/>
            <a:endCxn id="539" idx="1"/>
          </p:cNvCxnSpPr>
          <p:nvPr/>
        </p:nvCxnSpPr>
        <p:spPr>
          <a:xfrm>
            <a:off x="5829300" y="2724150"/>
            <a:ext cx="533400" cy="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580" name="直接箭头连接符 579"/>
          <p:cNvCxnSpPr>
            <a:stCxn id="539" idx="3"/>
            <a:endCxn id="541" idx="1"/>
          </p:cNvCxnSpPr>
          <p:nvPr/>
        </p:nvCxnSpPr>
        <p:spPr>
          <a:xfrm>
            <a:off x="8782050" y="2724150"/>
            <a:ext cx="533400" cy="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546" name="圆角矩形 545"/>
          <p:cNvSpPr>
            <a:spLocks noGrp="1"/>
          </p:cNvSpPr>
          <p:nvPr/>
        </p:nvSpPr>
        <p:spPr>
          <a:xfrm>
            <a:off x="6353175" y="4476750"/>
            <a:ext cx="3048000" cy="781050"/>
          </a:xfrm>
          <a:prstGeom prst="roundRect">
            <a:avLst>
              <a:gd name="adj" fmla="val 8537"/>
            </a:avLst>
          </a:prstGeom>
          <a:solidFill>
            <a:srgbClr val="EAF5F5"/>
          </a:solidFill>
          <a:ln w="15240">
            <a:solidFill>
              <a:srgbClr val="087F8C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参考适配 / 局部细化</a:t>
            </a:r>
          </a:p>
        </p:txBody>
      </p:sp>
      <p:sp>
        <p:nvSpPr>
          <p:cNvPr id="547" name="圆角矩形 546"/>
          <p:cNvSpPr>
            <a:spLocks noGrp="1"/>
          </p:cNvSpPr>
          <p:nvPr/>
        </p:nvSpPr>
        <p:spPr>
          <a:xfrm>
            <a:off x="457200" y="4391025"/>
            <a:ext cx="2952750" cy="952500"/>
          </a:xfrm>
          <a:prstGeom prst="roundRect">
            <a:avLst>
              <a:gd name="adj" fmla="val 7000"/>
            </a:avLst>
          </a:prstGeom>
          <a:solidFill>
            <a:srgbClr val="EAF5F5"/>
          </a:solidFill>
          <a:ln w="15240">
            <a:solidFill>
              <a:srgbClr val="087F8C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目标条件验证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H4 具体制品接受</a:t>
            </a:r>
          </a:p>
        </p:txBody>
      </p:sp>
      <p:sp>
        <p:nvSpPr>
          <p:cNvPr id="548" name="矩形 547"/>
          <p:cNvSpPr>
            <a:spLocks noGrp="1"/>
          </p:cNvSpPr>
          <p:nvPr/>
        </p:nvSpPr>
        <p:spPr>
          <a:xfrm>
            <a:off x="10525125" y="3133725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49" name="矩形 548"/>
          <p:cNvSpPr>
            <a:spLocks noGrp="1"/>
          </p:cNvSpPr>
          <p:nvPr/>
        </p:nvSpPr>
        <p:spPr>
          <a:xfrm>
            <a:off x="10525125" y="4867275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50" name="矩形 549"/>
          <p:cNvSpPr>
            <a:spLocks noGrp="1"/>
          </p:cNvSpPr>
          <p:nvPr/>
        </p:nvSpPr>
        <p:spPr>
          <a:xfrm>
            <a:off x="9401175" y="4867275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86" name="直接箭头连接符 585"/>
          <p:cNvCxnSpPr>
            <a:stCxn id="548" idx="2"/>
            <a:endCxn id="549" idx="0"/>
          </p:cNvCxnSpPr>
          <p:nvPr/>
        </p:nvCxnSpPr>
        <p:spPr>
          <a:xfrm>
            <a:off x="10526078" y="3135630"/>
            <a:ext cx="0" cy="1731645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none" w="sm" len="sm"/>
          </a:ln>
        </p:spPr>
      </p:cxnSp>
      <p:cxnSp>
        <p:nvCxnSpPr>
          <p:cNvPr id="587" name="直接箭头连接符 586"/>
          <p:cNvCxnSpPr>
            <a:stCxn id="549" idx="1"/>
            <a:endCxn id="550" idx="3"/>
          </p:cNvCxnSpPr>
          <p:nvPr/>
        </p:nvCxnSpPr>
        <p:spPr>
          <a:xfrm flipH="1">
            <a:off x="9403080" y="4868228"/>
            <a:ext cx="1122045" cy="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588" name="直接箭头连接符 587"/>
          <p:cNvCxnSpPr>
            <a:stCxn id="546" idx="1"/>
            <a:endCxn id="547" idx="3"/>
          </p:cNvCxnSpPr>
          <p:nvPr/>
        </p:nvCxnSpPr>
        <p:spPr>
          <a:xfrm flipH="1">
            <a:off x="3409950" y="4867275"/>
            <a:ext cx="2943225" cy="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554" name="矩形 553"/>
          <p:cNvSpPr>
            <a:spLocks noGrp="1"/>
          </p:cNvSpPr>
          <p:nvPr/>
        </p:nvSpPr>
        <p:spPr>
          <a:xfrm>
            <a:off x="7877175" y="525780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55" name="矩形 554"/>
          <p:cNvSpPr>
            <a:spLocks noGrp="1"/>
          </p:cNvSpPr>
          <p:nvPr/>
        </p:nvSpPr>
        <p:spPr>
          <a:xfrm>
            <a:off x="7877175" y="5724525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56" name="矩形 555"/>
          <p:cNvSpPr>
            <a:spLocks noGrp="1"/>
          </p:cNvSpPr>
          <p:nvPr/>
        </p:nvSpPr>
        <p:spPr>
          <a:xfrm>
            <a:off x="11858625" y="5724525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57" name="矩形 556"/>
          <p:cNvSpPr>
            <a:spLocks noGrp="1"/>
          </p:cNvSpPr>
          <p:nvPr/>
        </p:nvSpPr>
        <p:spPr>
          <a:xfrm>
            <a:off x="11858625" y="1857375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58" name="矩形 557"/>
          <p:cNvSpPr>
            <a:spLocks noGrp="1"/>
          </p:cNvSpPr>
          <p:nvPr/>
        </p:nvSpPr>
        <p:spPr>
          <a:xfrm>
            <a:off x="4619625" y="1857375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59" name="矩形 558"/>
          <p:cNvSpPr>
            <a:spLocks noGrp="1"/>
          </p:cNvSpPr>
          <p:nvPr/>
        </p:nvSpPr>
        <p:spPr>
          <a:xfrm>
            <a:off x="4619625" y="2314575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95" name="直接箭头连接符 594"/>
          <p:cNvCxnSpPr>
            <a:stCxn id="554" idx="2"/>
            <a:endCxn id="555" idx="0"/>
          </p:cNvCxnSpPr>
          <p:nvPr/>
        </p:nvCxnSpPr>
        <p:spPr>
          <a:xfrm>
            <a:off x="7878128" y="5259705"/>
            <a:ext cx="0" cy="464820"/>
          </a:xfrm>
          <a:prstGeom prst="straightConnector1">
            <a:avLst/>
          </a:prstGeom>
          <a:ln w="19050">
            <a:solidFill>
              <a:srgbClr val="AD6C13"/>
            </a:solidFill>
            <a:prstDash val="solid"/>
            <a:tailEnd type="none" w="sm" len="sm"/>
          </a:ln>
        </p:spPr>
      </p:cxnSp>
      <p:cxnSp>
        <p:nvCxnSpPr>
          <p:cNvPr id="596" name="直接箭头连接符 595"/>
          <p:cNvCxnSpPr>
            <a:stCxn id="555" idx="3"/>
            <a:endCxn id="556" idx="1"/>
          </p:cNvCxnSpPr>
          <p:nvPr/>
        </p:nvCxnSpPr>
        <p:spPr>
          <a:xfrm>
            <a:off x="7879080" y="5725478"/>
            <a:ext cx="3979545" cy="0"/>
          </a:xfrm>
          <a:prstGeom prst="straightConnector1">
            <a:avLst/>
          </a:prstGeom>
          <a:ln w="19050">
            <a:solidFill>
              <a:srgbClr val="AD6C13"/>
            </a:solidFill>
            <a:prstDash val="solid"/>
            <a:tailEnd type="none" w="sm" len="sm"/>
          </a:ln>
        </p:spPr>
      </p:cxnSp>
      <p:cxnSp>
        <p:nvCxnSpPr>
          <p:cNvPr id="597" name="直接箭头连接符 596"/>
          <p:cNvCxnSpPr>
            <a:stCxn id="556" idx="0"/>
            <a:endCxn id="557" idx="2"/>
          </p:cNvCxnSpPr>
          <p:nvPr/>
        </p:nvCxnSpPr>
        <p:spPr>
          <a:xfrm flipV="1">
            <a:off x="11859578" y="1859280"/>
            <a:ext cx="0" cy="3865245"/>
          </a:xfrm>
          <a:prstGeom prst="straightConnector1">
            <a:avLst/>
          </a:prstGeom>
          <a:ln w="19050">
            <a:solidFill>
              <a:srgbClr val="AD6C13"/>
            </a:solidFill>
            <a:prstDash val="solid"/>
            <a:tailEnd type="none" w="sm" len="sm"/>
          </a:ln>
        </p:spPr>
      </p:cxnSp>
      <p:cxnSp>
        <p:nvCxnSpPr>
          <p:cNvPr id="598" name="直接箭头连接符 597"/>
          <p:cNvCxnSpPr>
            <a:stCxn id="557" idx="1"/>
            <a:endCxn id="558" idx="3"/>
          </p:cNvCxnSpPr>
          <p:nvPr/>
        </p:nvCxnSpPr>
        <p:spPr>
          <a:xfrm flipH="1">
            <a:off x="4621530" y="1858328"/>
            <a:ext cx="7237095" cy="0"/>
          </a:xfrm>
          <a:prstGeom prst="straightConnector1">
            <a:avLst/>
          </a:prstGeom>
          <a:ln w="19050">
            <a:solidFill>
              <a:srgbClr val="AD6C13"/>
            </a:solidFill>
            <a:prstDash val="solid"/>
            <a:tailEnd type="none" w="sm" len="sm"/>
          </a:ln>
        </p:spPr>
      </p:cxnSp>
      <p:cxnSp>
        <p:nvCxnSpPr>
          <p:cNvPr id="599" name="直接箭头连接符 598"/>
          <p:cNvCxnSpPr>
            <a:stCxn id="558" idx="2"/>
            <a:endCxn id="559" idx="0"/>
          </p:cNvCxnSpPr>
          <p:nvPr/>
        </p:nvCxnSpPr>
        <p:spPr>
          <a:xfrm>
            <a:off x="4620578" y="1859280"/>
            <a:ext cx="0" cy="455295"/>
          </a:xfrm>
          <a:prstGeom prst="straightConnector1">
            <a:avLst/>
          </a:prstGeom>
          <a:ln w="19050">
            <a:solidFill>
              <a:srgbClr val="AD6C13"/>
            </a:solidFill>
            <a:prstDash val="solid"/>
            <a:tailEnd type="triangle" w="sm" len="sm"/>
          </a:ln>
        </p:spPr>
      </p:cxnSp>
      <p:sp>
        <p:nvSpPr>
          <p:cNvPr id="565" name="矩形 564"/>
          <p:cNvSpPr>
            <a:spLocks noGrp="1"/>
          </p:cNvSpPr>
          <p:nvPr/>
        </p:nvSpPr>
        <p:spPr>
          <a:xfrm>
            <a:off x="4171950" y="5800725"/>
            <a:ext cx="72009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725" b="0">
                <a:solidFill>
                  <a:srgbClr val="AD6C13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0">
                <a:solidFill>
                  <a:srgbClr val="AD6C13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结构或机制不合适时，返回分析与方案阶段</a:t>
            </a:r>
            <a:endParaRPr sz="1725" b="0">
              <a:solidFill>
                <a:srgbClr val="AD6C13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66" name="矩形 565"/>
          <p:cNvSpPr>
            <a:spLocks noGrp="1"/>
          </p:cNvSpPr>
          <p:nvPr/>
        </p:nvSpPr>
        <p:spPr>
          <a:xfrm>
            <a:off x="457200" y="61150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35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按需研究机制先验。图中人工确认属于 Skill 工作流约定</a:t>
            </a:r>
            <a:endParaRPr sz="1350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" name="Google Shape;532;p58"/>
          <p:cNvSpPr>
            <a:spLocks noGrp="1"/>
          </p:cNvSpPr>
          <p:nvPr/>
        </p:nvSpPr>
        <p:spPr>
          <a:xfrm>
            <a:off x="10763250" y="6419850"/>
            <a:ext cx="971550" cy="238125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 marL="0" indent="0" algn="r">
              <a:spcBef>
                <a:spcPts val="0"/>
              </a:spcBef>
              <a:buNone/>
              <a:defRPr sz="1275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fld id="{702B7524-8E73-EB9A-1ECC-F95C47C5A0B9}" type="slidenum">
              <a:rPr sz="1275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</a:fld>
            <a:endParaRPr sz="1275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3" name="Google Shape;533;p58"/>
          <p:cNvSpPr>
            <a:spLocks noGrp="1"/>
          </p:cNvSpPr>
          <p:nvPr/>
        </p:nvSpPr>
        <p:spPr>
          <a:xfrm>
            <a:off x="457200" y="352425"/>
            <a:ext cx="11277600" cy="723900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  <a:buNone/>
              <a:defRPr sz="32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2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实际案例：同一极光主题的三种表示</a:t>
            </a:r>
            <a:endParaRPr sz="3225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4" name="矩形 533"/>
          <p:cNvSpPr>
            <a:spLocks noGrp="1"/>
          </p:cNvSpPr>
          <p:nvPr/>
        </p:nvSpPr>
        <p:spPr>
          <a:xfrm>
            <a:off x="457200" y="1133475"/>
            <a:ext cx="112776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Skill 机制实验，固定 960×540、WebGL2、time = 6 s、相同显示转换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pic>
        <p:nvPicPr>
          <p:cNvPr id="548" name="图片 5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63936"/>
            <a:ext cx="3448050" cy="1939528"/>
          </a:xfrm>
          <a:prstGeom prst="rect">
            <a:avLst/>
          </a:prstGeom>
        </p:spPr>
      </p:pic>
      <p:sp>
        <p:nvSpPr>
          <p:cNvPr id="536" name="矩形 535"/>
          <p:cNvSpPr>
            <a:spLocks noGrp="1"/>
          </p:cNvSpPr>
          <p:nvPr/>
        </p:nvSpPr>
        <p:spPr>
          <a:xfrm>
            <a:off x="457200" y="4162425"/>
            <a:ext cx="3524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2025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025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X  屏幕空间场</a:t>
            </a:r>
            <a:endParaRPr sz="2025" b="1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7" name="矩形 536"/>
          <p:cNvSpPr>
            <a:spLocks noGrp="1"/>
          </p:cNvSpPr>
          <p:nvPr/>
        </p:nvSpPr>
        <p:spPr>
          <a:xfrm>
            <a:off x="457200" y="4829175"/>
            <a:ext cx="35242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在 2D 域构造强度与方向</a:t>
            </a:r>
            <a:endParaRPr sz="1800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可见带状轮廓与细束</a:t>
            </a:r>
            <a:endParaRPr sz="1800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pic>
        <p:nvPicPr>
          <p:cNvPr id="551" name="图片 5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975" y="1963936"/>
            <a:ext cx="3448050" cy="1939528"/>
          </a:xfrm>
          <a:prstGeom prst="rect">
            <a:avLst/>
          </a:prstGeom>
        </p:spPr>
      </p:pic>
      <p:sp>
        <p:nvSpPr>
          <p:cNvPr id="539" name="矩形 538"/>
          <p:cNvSpPr>
            <a:spLocks noGrp="1"/>
          </p:cNvSpPr>
          <p:nvPr/>
        </p:nvSpPr>
        <p:spPr>
          <a:xfrm>
            <a:off x="4371975" y="4162425"/>
            <a:ext cx="3524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2025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025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Y  零厚度曲面发射</a:t>
            </a:r>
            <a:endParaRPr sz="2025" b="1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40" name="矩形 539"/>
          <p:cNvSpPr>
            <a:spLocks noGrp="1"/>
          </p:cNvSpPr>
          <p:nvPr/>
        </p:nvSpPr>
        <p:spPr>
          <a:xfrm>
            <a:off x="4371975" y="4829175"/>
            <a:ext cx="35242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沿实际曲面组织发射场</a:t>
            </a:r>
            <a:endParaRPr sz="1800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空间支撑与屏幕方案不同</a:t>
            </a:r>
            <a:endParaRPr sz="1800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pic>
        <p:nvPicPr>
          <p:cNvPr id="554" name="图片 5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1963936"/>
            <a:ext cx="3448050" cy="1939528"/>
          </a:xfrm>
          <a:prstGeom prst="rect">
            <a:avLst/>
          </a:prstGeom>
        </p:spPr>
      </p:pic>
      <p:sp>
        <p:nvSpPr>
          <p:cNvPr id="542" name="矩形 541"/>
          <p:cNvSpPr>
            <a:spLocks noGrp="1"/>
          </p:cNvSpPr>
          <p:nvPr/>
        </p:nvSpPr>
        <p:spPr>
          <a:xfrm>
            <a:off x="8286750" y="4162425"/>
            <a:ext cx="3524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2025" b="1">
                <a:solidFill>
                  <a:srgbClr val="087F8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025" b="1">
                <a:solidFill>
                  <a:srgbClr val="087F8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Z  有限厚度体积发射</a:t>
            </a:r>
            <a:endParaRPr sz="2025" b="1">
              <a:solidFill>
                <a:srgbClr val="087F8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43" name="矩形 542"/>
          <p:cNvSpPr>
            <a:spLocks noGrp="1"/>
          </p:cNvSpPr>
          <p:nvPr/>
        </p:nvSpPr>
        <p:spPr>
          <a:xfrm>
            <a:off x="8286750" y="4829175"/>
            <a:ext cx="35242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沿视线累计体积发射</a:t>
            </a:r>
            <a:endParaRPr sz="1800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本轮 H3 用户选定的方向</a:t>
            </a:r>
            <a:endParaRPr sz="1800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44" name="矩形 543"/>
          <p:cNvSpPr>
            <a:spLocks noGrp="1"/>
          </p:cNvSpPr>
          <p:nvPr/>
        </p:nvSpPr>
        <p:spPr>
          <a:xfrm>
            <a:off x="457200" y="61150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35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本轮目标为现象探索。三图用于比较机制与视觉方向，不用于证明原图复刻精度</a:t>
            </a:r>
            <a:endParaRPr sz="1350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" name="Google Shape;532;p58"/>
          <p:cNvSpPr>
            <a:spLocks noGrp="1"/>
          </p:cNvSpPr>
          <p:nvPr/>
        </p:nvSpPr>
        <p:spPr>
          <a:xfrm>
            <a:off x="10763250" y="6419850"/>
            <a:ext cx="971550" cy="238125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 marL="0" indent="0" algn="r">
              <a:spcBef>
                <a:spcPts val="0"/>
              </a:spcBef>
              <a:buNone/>
              <a:defRPr sz="1275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fld id="{2F0A85CE-8BE1-9B69-DCEB-04F87353C827}" type="slidenum">
              <a:rPr sz="1275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</a:fld>
            <a:endParaRPr sz="1275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3" name="Google Shape;533;p58"/>
          <p:cNvSpPr>
            <a:spLocks noGrp="1"/>
          </p:cNvSpPr>
          <p:nvPr/>
        </p:nvSpPr>
        <p:spPr>
          <a:xfrm>
            <a:off x="457200" y="352425"/>
            <a:ext cx="11277600" cy="723900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  <a:buNone/>
              <a:defRPr sz="32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2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实际迭代：保留基线，细化已选方案</a:t>
            </a:r>
            <a:endParaRPr sz="3225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4" name="矩形 533"/>
          <p:cNvSpPr>
            <a:spLocks noGrp="1"/>
          </p:cNvSpPr>
          <p:nvPr/>
        </p:nvSpPr>
        <p:spPr>
          <a:xfrm>
            <a:off x="457200" y="1133475"/>
            <a:ext cx="112776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将“细束过于规律”作为待验证问题，只调整内部节奏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pic>
        <p:nvPicPr>
          <p:cNvPr id="545" name="图片 5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24299"/>
            <a:ext cx="6219825" cy="4742902"/>
          </a:xfrm>
          <a:prstGeom prst="rect">
            <a:avLst/>
          </a:prstGeom>
        </p:spPr>
      </p:pic>
      <p:sp>
        <p:nvSpPr>
          <p:cNvPr id="536" name="矩形 535"/>
          <p:cNvSpPr>
            <a:spLocks noGrp="1"/>
          </p:cNvSpPr>
          <p:nvPr/>
        </p:nvSpPr>
        <p:spPr>
          <a:xfrm>
            <a:off x="7181850" y="2000250"/>
            <a:ext cx="4429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2100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本轮修改范围</a:t>
            </a:r>
            <a:endParaRPr sz="2100" b="1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7" name="矩形 536"/>
          <p:cNvSpPr>
            <a:spLocks noGrp="1"/>
          </p:cNvSpPr>
          <p:nvPr/>
        </p:nvSpPr>
        <p:spPr>
          <a:xfrm>
            <a:off x="7181850" y="2524125"/>
            <a:ext cx="4429125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固定体积机制、相机和颜色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比较两个局部参数方向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8" name="矩形 537"/>
          <p:cNvSpPr>
            <a:spLocks noGrp="1"/>
          </p:cNvSpPr>
          <p:nvPr/>
        </p:nvSpPr>
        <p:spPr>
          <a:xfrm>
            <a:off x="7181850" y="3409950"/>
            <a:ext cx="4429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2100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验证与选择</a:t>
            </a:r>
            <a:endParaRPr sz="2100" b="1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9" name="矩形 538"/>
          <p:cNvSpPr>
            <a:spLocks noGrp="1"/>
          </p:cNvSpPr>
          <p:nvPr/>
        </p:nvSpPr>
        <p:spPr>
          <a:xfrm>
            <a:off x="7181850" y="3933825"/>
            <a:ext cx="4429125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比较固定时刻的真实预览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检查轮廓、发射量和循环等保护项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40" name="矩形 539"/>
          <p:cNvSpPr>
            <a:spLocks noGrp="1"/>
          </p:cNvSpPr>
          <p:nvPr/>
        </p:nvSpPr>
        <p:spPr>
          <a:xfrm>
            <a:off x="7181850" y="4857750"/>
            <a:ext cx="4429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2100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已确认的交付</a:t>
            </a:r>
            <a:endParaRPr sz="2100" b="1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41" name="矩形 540"/>
          <p:cNvSpPr>
            <a:spLocks noGrp="1"/>
          </p:cNvSpPr>
          <p:nvPr/>
        </p:nvSpPr>
        <p:spPr>
          <a:xfrm>
            <a:off x="7181850" y="5381625"/>
            <a:ext cx="4429125" cy="1038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用户选定 Z-r1-A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H4 记录绑定代码、参数与最终捕获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" name="Google Shape;532;p58"/>
          <p:cNvSpPr>
            <a:spLocks noGrp="1"/>
          </p:cNvSpPr>
          <p:nvPr/>
        </p:nvSpPr>
        <p:spPr>
          <a:xfrm>
            <a:off x="10763250" y="6419850"/>
            <a:ext cx="971550" cy="238125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 marL="0" indent="0" algn="r">
              <a:spcBef>
                <a:spcPts val="0"/>
              </a:spcBef>
              <a:buNone/>
              <a:defRPr sz="1275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fld id="{57F7B3B2-CFD9-C178-E898-49C5E0BE7018}" type="slidenum">
              <a:rPr sz="1275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</a:fld>
            <a:endParaRPr sz="1275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3" name="Google Shape;533;p58"/>
          <p:cNvSpPr>
            <a:spLocks noGrp="1"/>
          </p:cNvSpPr>
          <p:nvPr/>
        </p:nvSpPr>
        <p:spPr>
          <a:xfrm>
            <a:off x="457200" y="352425"/>
            <a:ext cx="11277600" cy="723900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  <a:buNone/>
              <a:defRPr sz="32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2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参考适配案例：进展与差异同时保留</a:t>
            </a:r>
            <a:endParaRPr sz="3225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4" name="矩形 533"/>
          <p:cNvSpPr>
            <a:spLocks noGrp="1"/>
          </p:cNvSpPr>
          <p:nvPr/>
        </p:nvSpPr>
        <p:spPr>
          <a:xfrm>
            <a:off x="457200" y="1133475"/>
            <a:ext cx="112776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另一轮极光实验完成三轮内部适配，当前为 candidate_ready，尚未获得 H4 验收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pic>
        <p:nvPicPr>
          <p:cNvPr id="544" name="图片 5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38325"/>
            <a:ext cx="5400675" cy="3600450"/>
          </a:xfrm>
          <a:prstGeom prst="rect">
            <a:avLst/>
          </a:prstGeom>
        </p:spPr>
      </p:pic>
      <p:pic>
        <p:nvPicPr>
          <p:cNvPr id="545" name="图片 5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838325"/>
            <a:ext cx="5400675" cy="3600450"/>
          </a:xfrm>
          <a:prstGeom prst="rect">
            <a:avLst/>
          </a:prstGeom>
        </p:spPr>
      </p:pic>
      <p:sp>
        <p:nvSpPr>
          <p:cNvPr id="537" name="矩形 536"/>
          <p:cNvSpPr>
            <a:spLocks noGrp="1"/>
          </p:cNvSpPr>
          <p:nvPr/>
        </p:nvSpPr>
        <p:spPr>
          <a:xfrm>
            <a:off x="457200" y="1600200"/>
            <a:ext cx="54006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65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参考图</a:t>
            </a:r>
            <a:endParaRPr sz="1650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8" name="矩形 537"/>
          <p:cNvSpPr>
            <a:spLocks noGrp="1"/>
          </p:cNvSpPr>
          <p:nvPr/>
        </p:nvSpPr>
        <p:spPr>
          <a:xfrm>
            <a:off x="6334125" y="1600200"/>
            <a:ext cx="54006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650" b="0">
                <a:solidFill>
                  <a:srgbClr val="087F8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087F8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当前候选  reference-r3</a:t>
            </a:r>
            <a:endParaRPr sz="1650" b="0">
              <a:solidFill>
                <a:srgbClr val="087F8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9" name="矩形 538"/>
          <p:cNvSpPr>
            <a:spLocks noGrp="1"/>
          </p:cNvSpPr>
          <p:nvPr/>
        </p:nvSpPr>
        <p:spPr>
          <a:xfrm>
            <a:off x="457200" y="5657850"/>
            <a:ext cx="5619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已建立：主光幕走向与基础场景构图</a:t>
            </a:r>
            <a:endParaRPr sz="1800" b="1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40" name="矩形 539"/>
          <p:cNvSpPr>
            <a:spLocks noGrp="1"/>
          </p:cNvSpPr>
          <p:nvPr/>
        </p:nvSpPr>
        <p:spPr>
          <a:xfrm>
            <a:off x="6334125" y="5657850"/>
            <a:ext cx="540067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仍有差异：光幕偏均匀，树木与地表简化</a:t>
            </a:r>
            <a:endParaRPr sz="1800" b="1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" name="Google Shape;532;p58"/>
          <p:cNvSpPr>
            <a:spLocks noGrp="1"/>
          </p:cNvSpPr>
          <p:nvPr/>
        </p:nvSpPr>
        <p:spPr>
          <a:xfrm>
            <a:off x="10763250" y="6419850"/>
            <a:ext cx="971550" cy="238125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 marL="0" indent="0" algn="r">
              <a:spcBef>
                <a:spcPts val="0"/>
              </a:spcBef>
              <a:buNone/>
              <a:defRPr sz="1275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fld id="{C82D75E7-B7C9-FCF4-3BE6-30AE6841E732}" type="slidenum">
              <a:rPr sz="1275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</a:fld>
            <a:endParaRPr sz="1275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3" name="Google Shape;533;p58"/>
          <p:cNvSpPr>
            <a:spLocks noGrp="1"/>
          </p:cNvSpPr>
          <p:nvPr/>
        </p:nvSpPr>
        <p:spPr>
          <a:xfrm>
            <a:off x="457200" y="352425"/>
            <a:ext cx="11277600" cy="723900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  <a:buNone/>
              <a:defRPr sz="32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2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shader-deep 当前架构</a:t>
            </a:r>
            <a:endParaRPr sz="3225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4" name="矩形 533"/>
          <p:cNvSpPr>
            <a:spLocks noGrp="1"/>
          </p:cNvSpPr>
          <p:nvPr/>
        </p:nvSpPr>
        <p:spPr>
          <a:xfrm>
            <a:off x="457200" y="1133475"/>
            <a:ext cx="112776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分析与生成分别运行，共用业务记录、按任务选材和制品保存机制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5" name="圆角矩形 534"/>
          <p:cNvSpPr>
            <a:spLocks noGrp="1"/>
          </p:cNvSpPr>
          <p:nvPr/>
        </p:nvSpPr>
        <p:spPr>
          <a:xfrm>
            <a:off x="457200" y="2324100"/>
            <a:ext cx="2190750" cy="1428750"/>
          </a:xfrm>
          <a:prstGeom prst="roundRect">
            <a:avLst>
              <a:gd name="adj" fmla="val 4667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20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输入</a:t>
            </a:r>
          </a:p>
          <a:p>
            <a:pPr marL="0" indent="0" algn="ctr">
              <a:spcBef>
                <a:spcPts val="0"/>
              </a:spcBef>
              <a:buNone/>
              <a:defRPr sz="20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PNG、文字要求</a:t>
            </a:r>
          </a:p>
          <a:p>
            <a:pPr marL="0" indent="0" algn="ctr">
              <a:spcBef>
                <a:spcPts val="0"/>
              </a:spcBef>
              <a:buNone/>
              <a:defRPr sz="20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目标与保护项</a:t>
            </a:r>
          </a:p>
        </p:txBody>
      </p:sp>
      <p:sp>
        <p:nvSpPr>
          <p:cNvPr id="536" name="圆角矩形 535"/>
          <p:cNvSpPr>
            <a:spLocks noGrp="1"/>
          </p:cNvSpPr>
          <p:nvPr/>
        </p:nvSpPr>
        <p:spPr>
          <a:xfrm>
            <a:off x="3333750" y="2514600"/>
            <a:ext cx="2381250" cy="1047750"/>
          </a:xfrm>
          <a:prstGeom prst="roundRect">
            <a:avLst>
              <a:gd name="adj" fmla="val 6364"/>
            </a:avLst>
          </a:prstGeom>
          <a:solidFill>
            <a:srgbClr val="EAF5F5"/>
          </a:solidFill>
          <a:ln w="15240">
            <a:solidFill>
              <a:srgbClr val="087F8C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Context Builder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按任务加载材料</a:t>
            </a:r>
          </a:p>
        </p:txBody>
      </p:sp>
      <p:sp>
        <p:nvSpPr>
          <p:cNvPr id="537" name="圆角矩形 536"/>
          <p:cNvSpPr>
            <a:spLocks noGrp="1"/>
          </p:cNvSpPr>
          <p:nvPr/>
        </p:nvSpPr>
        <p:spPr>
          <a:xfrm>
            <a:off x="6467475" y="1847850"/>
            <a:ext cx="2286000" cy="952500"/>
          </a:xfrm>
          <a:prstGeom prst="roundRect">
            <a:avLst>
              <a:gd name="adj" fmla="val 7000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独立分析模块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规划、视角与综合</a:t>
            </a:r>
          </a:p>
        </p:txBody>
      </p:sp>
      <p:sp>
        <p:nvSpPr>
          <p:cNvPr id="538" name="圆角矩形 537"/>
          <p:cNvSpPr>
            <a:spLocks noGrp="1"/>
          </p:cNvSpPr>
          <p:nvPr/>
        </p:nvSpPr>
        <p:spPr>
          <a:xfrm>
            <a:off x="6467475" y="3486150"/>
            <a:ext cx="2286000" cy="952500"/>
          </a:xfrm>
          <a:prstGeom prst="roundRect">
            <a:avLst>
              <a:gd name="adj" fmla="val 7000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生成模块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代码、渲染与自检</a:t>
            </a:r>
          </a:p>
        </p:txBody>
      </p:sp>
      <p:sp>
        <p:nvSpPr>
          <p:cNvPr id="539" name="圆角矩形 538"/>
          <p:cNvSpPr>
            <a:spLocks noGrp="1"/>
          </p:cNvSpPr>
          <p:nvPr/>
        </p:nvSpPr>
        <p:spPr>
          <a:xfrm>
            <a:off x="9496425" y="1847850"/>
            <a:ext cx="2238375" cy="952500"/>
          </a:xfrm>
          <a:prstGeom prst="roundRect">
            <a:avLst>
              <a:gd name="adj" fmla="val 7000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分析报告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观察、解释与引用</a:t>
            </a:r>
          </a:p>
        </p:txBody>
      </p:sp>
      <p:sp>
        <p:nvSpPr>
          <p:cNvPr id="540" name="圆角矩形 539"/>
          <p:cNvSpPr>
            <a:spLocks noGrp="1"/>
          </p:cNvSpPr>
          <p:nvPr/>
        </p:nvSpPr>
        <p:spPr>
          <a:xfrm>
            <a:off x="9496425" y="3486150"/>
            <a:ext cx="2238375" cy="952500"/>
          </a:xfrm>
          <a:prstGeom prst="roundRect">
            <a:avLst>
              <a:gd name="adj" fmla="val 7000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选定候选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GLSL 与真实 PNG</a:t>
            </a:r>
          </a:p>
        </p:txBody>
      </p:sp>
      <p:cxnSp>
        <p:nvCxnSpPr>
          <p:cNvPr id="568" name="直接箭头连接符 567"/>
          <p:cNvCxnSpPr>
            <a:stCxn id="535" idx="3"/>
            <a:endCxn id="536" idx="1"/>
          </p:cNvCxnSpPr>
          <p:nvPr/>
        </p:nvCxnSpPr>
        <p:spPr>
          <a:xfrm>
            <a:off x="2647950" y="3038475"/>
            <a:ext cx="685800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cxnSp>
        <p:nvCxnSpPr>
          <p:cNvPr id="569" name="肘形连接符 568"/>
          <p:cNvCxnSpPr>
            <a:stCxn id="536" idx="3"/>
            <a:endCxn id="537" idx="1"/>
          </p:cNvCxnSpPr>
          <p:nvPr/>
        </p:nvCxnSpPr>
        <p:spPr>
          <a:xfrm flipV="1">
            <a:off x="5715000" y="2324100"/>
            <a:ext cx="752475" cy="714375"/>
          </a:xfrm>
          <a:prstGeom prst="bentConnector3">
            <a:avLst>
              <a:gd name="adj1" fmla="val 50000"/>
            </a:avLst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cxnSp>
        <p:nvCxnSpPr>
          <p:cNvPr id="570" name="肘形连接符 569"/>
          <p:cNvCxnSpPr>
            <a:stCxn id="536" idx="3"/>
            <a:endCxn id="538" idx="1"/>
          </p:cNvCxnSpPr>
          <p:nvPr/>
        </p:nvCxnSpPr>
        <p:spPr>
          <a:xfrm>
            <a:off x="5715000" y="3038475"/>
            <a:ext cx="752475" cy="923925"/>
          </a:xfrm>
          <a:prstGeom prst="bentConnector3">
            <a:avLst>
              <a:gd name="adj1" fmla="val 50000"/>
            </a:avLst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cxnSp>
        <p:nvCxnSpPr>
          <p:cNvPr id="571" name="直接箭头连接符 570"/>
          <p:cNvCxnSpPr>
            <a:stCxn id="537" idx="3"/>
            <a:endCxn id="539" idx="1"/>
          </p:cNvCxnSpPr>
          <p:nvPr/>
        </p:nvCxnSpPr>
        <p:spPr>
          <a:xfrm>
            <a:off x="8753475" y="2324100"/>
            <a:ext cx="742950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cxnSp>
        <p:nvCxnSpPr>
          <p:cNvPr id="572" name="直接箭头连接符 571"/>
          <p:cNvCxnSpPr>
            <a:stCxn id="538" idx="3"/>
            <a:endCxn id="540" idx="1"/>
          </p:cNvCxnSpPr>
          <p:nvPr/>
        </p:nvCxnSpPr>
        <p:spPr>
          <a:xfrm>
            <a:off x="8753475" y="3962400"/>
            <a:ext cx="742950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sp>
        <p:nvSpPr>
          <p:cNvPr id="546" name="圆角矩形 545"/>
          <p:cNvSpPr>
            <a:spLocks noGrp="1"/>
          </p:cNvSpPr>
          <p:nvPr/>
        </p:nvSpPr>
        <p:spPr>
          <a:xfrm>
            <a:off x="457200" y="5219700"/>
            <a:ext cx="5257800" cy="723900"/>
          </a:xfrm>
          <a:prstGeom prst="roundRect">
            <a:avLst>
              <a:gd name="adj" fmla="val 9211"/>
            </a:avLst>
          </a:prstGeom>
          <a:solidFill>
            <a:srgbClr val="EAF5F5"/>
          </a:solidFill>
          <a:ln w="15240">
            <a:solidFill>
              <a:srgbClr val="087F8C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Blackboard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目标、任务、候选、结果</a:t>
            </a:r>
          </a:p>
        </p:txBody>
      </p:sp>
      <p:sp>
        <p:nvSpPr>
          <p:cNvPr id="547" name="圆角矩形 546"/>
          <p:cNvSpPr>
            <a:spLocks noGrp="1"/>
          </p:cNvSpPr>
          <p:nvPr/>
        </p:nvSpPr>
        <p:spPr>
          <a:xfrm>
            <a:off x="6467475" y="5219700"/>
            <a:ext cx="2286000" cy="723900"/>
          </a:xfrm>
          <a:prstGeom prst="roundRect">
            <a:avLst>
              <a:gd name="adj" fmla="val 9211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0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共用执行边界</a:t>
            </a:r>
          </a:p>
          <a:p>
            <a:pPr marL="0" indent="0" algn="ctr">
              <a:spcBef>
                <a:spcPts val="0"/>
              </a:spcBef>
              <a:buNone/>
              <a:defRPr sz="180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预算与工具范围</a:t>
            </a:r>
          </a:p>
        </p:txBody>
      </p:sp>
      <p:sp>
        <p:nvSpPr>
          <p:cNvPr id="548" name="圆角矩形 547"/>
          <p:cNvSpPr>
            <a:spLocks noGrp="1"/>
          </p:cNvSpPr>
          <p:nvPr/>
        </p:nvSpPr>
        <p:spPr>
          <a:xfrm>
            <a:off x="9496425" y="5219700"/>
            <a:ext cx="2238375" cy="723900"/>
          </a:xfrm>
          <a:prstGeom prst="roundRect">
            <a:avLst>
              <a:gd name="adj" fmla="val 9211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7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制品与快照</a:t>
            </a:r>
          </a:p>
          <a:p>
            <a:pPr marL="0" indent="0" algn="ctr">
              <a:spcBef>
                <a:spcPts val="0"/>
              </a:spcBef>
              <a:buNone/>
              <a:defRPr sz="17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代码 / 预览 / 记录</a:t>
            </a:r>
          </a:p>
        </p:txBody>
      </p:sp>
      <p:sp>
        <p:nvSpPr>
          <p:cNvPr id="549" name="矩形 548"/>
          <p:cNvSpPr>
            <a:spLocks noGrp="1"/>
          </p:cNvSpPr>
          <p:nvPr/>
        </p:nvSpPr>
        <p:spPr>
          <a:xfrm>
            <a:off x="4524375" y="521970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50" name="矩形 549"/>
          <p:cNvSpPr>
            <a:spLocks noGrp="1"/>
          </p:cNvSpPr>
          <p:nvPr/>
        </p:nvSpPr>
        <p:spPr>
          <a:xfrm>
            <a:off x="4524375" y="3562350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78" name="直接箭头连接符 577"/>
          <p:cNvCxnSpPr>
            <a:stCxn id="549" idx="0"/>
            <a:endCxn id="550" idx="2"/>
          </p:cNvCxnSpPr>
          <p:nvPr/>
        </p:nvCxnSpPr>
        <p:spPr>
          <a:xfrm flipV="1">
            <a:off x="4525328" y="3564255"/>
            <a:ext cx="0" cy="1655445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552" name="矩形 551"/>
          <p:cNvSpPr>
            <a:spLocks noGrp="1"/>
          </p:cNvSpPr>
          <p:nvPr/>
        </p:nvSpPr>
        <p:spPr>
          <a:xfrm>
            <a:off x="10620375" y="443865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53" name="矩形 552"/>
          <p:cNvSpPr>
            <a:spLocks noGrp="1"/>
          </p:cNvSpPr>
          <p:nvPr/>
        </p:nvSpPr>
        <p:spPr>
          <a:xfrm>
            <a:off x="10620375" y="5219700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81" name="直接箭头连接符 580"/>
          <p:cNvCxnSpPr>
            <a:stCxn id="552" idx="2"/>
            <a:endCxn id="553" idx="0"/>
          </p:cNvCxnSpPr>
          <p:nvPr/>
        </p:nvCxnSpPr>
        <p:spPr>
          <a:xfrm>
            <a:off x="10621328" y="4440555"/>
            <a:ext cx="0" cy="779145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555" name="矩形 554"/>
          <p:cNvSpPr>
            <a:spLocks noGrp="1"/>
          </p:cNvSpPr>
          <p:nvPr/>
        </p:nvSpPr>
        <p:spPr>
          <a:xfrm>
            <a:off x="7620000" y="521970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56" name="矩形 555"/>
          <p:cNvSpPr>
            <a:spLocks noGrp="1"/>
          </p:cNvSpPr>
          <p:nvPr/>
        </p:nvSpPr>
        <p:spPr>
          <a:xfrm>
            <a:off x="7620000" y="4438650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84" name="直接箭头连接符 583"/>
          <p:cNvCxnSpPr>
            <a:stCxn id="555" idx="0"/>
            <a:endCxn id="556" idx="2"/>
          </p:cNvCxnSpPr>
          <p:nvPr/>
        </p:nvCxnSpPr>
        <p:spPr>
          <a:xfrm flipV="1">
            <a:off x="7620953" y="4440555"/>
            <a:ext cx="0" cy="779145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sp>
        <p:nvSpPr>
          <p:cNvPr id="558" name="矩形 557"/>
          <p:cNvSpPr>
            <a:spLocks noGrp="1"/>
          </p:cNvSpPr>
          <p:nvPr/>
        </p:nvSpPr>
        <p:spPr>
          <a:xfrm>
            <a:off x="457200" y="61150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35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当前没有分析到生成的自动交接，也没有独立视觉评审或全局持续调度</a:t>
            </a:r>
            <a:endParaRPr sz="1350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" name="Google Shape;532;p58"/>
          <p:cNvSpPr>
            <a:spLocks noGrp="1"/>
          </p:cNvSpPr>
          <p:nvPr/>
        </p:nvSpPr>
        <p:spPr>
          <a:xfrm>
            <a:off x="10763250" y="6419850"/>
            <a:ext cx="971550" cy="238125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 marL="0" indent="0" algn="r">
              <a:spcBef>
                <a:spcPts val="0"/>
              </a:spcBef>
              <a:buNone/>
              <a:defRPr sz="1275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fld id="{F07226AE-A02A-2106-2BF1-191B57BEF1A4}" type="slidenum">
              <a:rPr sz="1275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</a:fld>
            <a:endParaRPr sz="1275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3" name="Google Shape;533;p58"/>
          <p:cNvSpPr>
            <a:spLocks noGrp="1"/>
          </p:cNvSpPr>
          <p:nvPr/>
        </p:nvSpPr>
        <p:spPr>
          <a:xfrm>
            <a:off x="457200" y="352425"/>
            <a:ext cx="11277600" cy="723900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  <a:buNone/>
              <a:defRPr sz="32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2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生成流程：代码必须经过渲染与预览反馈</a:t>
            </a:r>
            <a:endParaRPr sz="3225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4" name="矩形 533"/>
          <p:cNvSpPr>
            <a:spLocks noGrp="1"/>
          </p:cNvSpPr>
          <p:nvPr/>
        </p:nvSpPr>
        <p:spPr>
          <a:xfrm>
            <a:off x="457200" y="1133475"/>
            <a:ext cx="112776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模型负责提出修改，运行时代码检查候选资格并控制循环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5" name="圆角矩形 534"/>
          <p:cNvSpPr>
            <a:spLocks noGrp="1"/>
          </p:cNvSpPr>
          <p:nvPr/>
        </p:nvSpPr>
        <p:spPr>
          <a:xfrm>
            <a:off x="457200" y="2209800"/>
            <a:ext cx="1581150" cy="1009650"/>
          </a:xfrm>
          <a:prstGeom prst="roundRect">
            <a:avLst>
              <a:gd name="adj" fmla="val 6604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65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加载任务</a:t>
            </a:r>
          </a:p>
          <a:p>
            <a:pPr marL="0" indent="0" algn="ctr">
              <a:spcBef>
                <a:spcPts val="0"/>
              </a:spcBef>
              <a:buNone/>
              <a:defRPr sz="165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与参考图</a:t>
            </a:r>
          </a:p>
        </p:txBody>
      </p:sp>
      <p:sp>
        <p:nvSpPr>
          <p:cNvPr id="536" name="圆角矩形 535"/>
          <p:cNvSpPr>
            <a:spLocks noGrp="1"/>
          </p:cNvSpPr>
          <p:nvPr/>
        </p:nvSpPr>
        <p:spPr>
          <a:xfrm>
            <a:off x="2352675" y="2209800"/>
            <a:ext cx="1581150" cy="1009650"/>
          </a:xfrm>
          <a:prstGeom prst="roundRect">
            <a:avLst>
              <a:gd name="adj" fmla="val 6604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65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生成 / 修正</a:t>
            </a:r>
          </a:p>
          <a:p>
            <a:pPr marL="0" indent="0" algn="ctr">
              <a:spcBef>
                <a:spcPts val="0"/>
              </a:spcBef>
              <a:buNone/>
              <a:defRPr sz="165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完整 GLSL</a:t>
            </a:r>
          </a:p>
        </p:txBody>
      </p:sp>
      <p:sp>
        <p:nvSpPr>
          <p:cNvPr id="537" name="圆角矩形 536"/>
          <p:cNvSpPr>
            <a:spLocks noGrp="1"/>
          </p:cNvSpPr>
          <p:nvPr/>
        </p:nvSpPr>
        <p:spPr>
          <a:xfrm>
            <a:off x="4248150" y="2209800"/>
            <a:ext cx="1581150" cy="1009650"/>
          </a:xfrm>
          <a:prstGeom prst="roundRect">
            <a:avLst>
              <a:gd name="adj" fmla="val 6604"/>
            </a:avLst>
          </a:prstGeom>
          <a:solidFill>
            <a:srgbClr val="EAF5F5"/>
          </a:solidFill>
          <a:ln w="15240">
            <a:solidFill>
              <a:srgbClr val="087F8C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65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render_shader</a:t>
            </a:r>
          </a:p>
          <a:p>
            <a:pPr marL="0" indent="0" algn="ctr">
              <a:spcBef>
                <a:spcPts val="0"/>
              </a:spcBef>
              <a:buNone/>
              <a:defRPr sz="165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真实渲染</a:t>
            </a:r>
          </a:p>
        </p:txBody>
      </p:sp>
      <p:sp>
        <p:nvSpPr>
          <p:cNvPr id="538" name="圆角矩形 537"/>
          <p:cNvSpPr>
            <a:spLocks noGrp="1"/>
          </p:cNvSpPr>
          <p:nvPr/>
        </p:nvSpPr>
        <p:spPr>
          <a:xfrm>
            <a:off x="6143625" y="2209800"/>
            <a:ext cx="1581150" cy="1009650"/>
          </a:xfrm>
          <a:prstGeom prst="roundRect">
            <a:avLst>
              <a:gd name="adj" fmla="val 6604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65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刷新上下文</a:t>
            </a:r>
          </a:p>
          <a:p>
            <a:pPr marL="0" indent="0" algn="ctr">
              <a:spcBef>
                <a:spcPts val="0"/>
              </a:spcBef>
              <a:buNone/>
              <a:defRPr sz="165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加入预览</a:t>
            </a:r>
          </a:p>
        </p:txBody>
      </p:sp>
      <p:sp>
        <p:nvSpPr>
          <p:cNvPr id="539" name="圆角矩形 538"/>
          <p:cNvSpPr>
            <a:spLocks noGrp="1"/>
          </p:cNvSpPr>
          <p:nvPr/>
        </p:nvSpPr>
        <p:spPr>
          <a:xfrm>
            <a:off x="8039100" y="2209800"/>
            <a:ext cx="1581150" cy="1009650"/>
          </a:xfrm>
          <a:prstGeom prst="roundRect">
            <a:avLst>
              <a:gd name="adj" fmla="val 6604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65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模型对照</a:t>
            </a:r>
          </a:p>
          <a:p>
            <a:pPr marL="0" indent="0" algn="ctr">
              <a:spcBef>
                <a:spcPts val="0"/>
              </a:spcBef>
              <a:buNone/>
              <a:defRPr sz="165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真实预览</a:t>
            </a:r>
          </a:p>
        </p:txBody>
      </p:sp>
      <p:sp>
        <p:nvSpPr>
          <p:cNvPr id="540" name="圆角矩形 539"/>
          <p:cNvSpPr>
            <a:spLocks noGrp="1"/>
          </p:cNvSpPr>
          <p:nvPr/>
        </p:nvSpPr>
        <p:spPr>
          <a:xfrm>
            <a:off x="9934575" y="2209800"/>
            <a:ext cx="1581150" cy="1009650"/>
          </a:xfrm>
          <a:prstGeom prst="roundRect">
            <a:avLst>
              <a:gd name="adj" fmla="val 6604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65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finish_shader</a:t>
            </a:r>
          </a:p>
          <a:p>
            <a:pPr marL="0" indent="0" algn="ctr">
              <a:spcBef>
                <a:spcPts val="0"/>
              </a:spcBef>
              <a:buNone/>
              <a:defRPr sz="165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选择候选</a:t>
            </a:r>
          </a:p>
        </p:txBody>
      </p:sp>
      <p:cxnSp>
        <p:nvCxnSpPr>
          <p:cNvPr id="574" name="直接箭头连接符 573"/>
          <p:cNvCxnSpPr>
            <a:stCxn id="535" idx="3"/>
            <a:endCxn id="536" idx="1"/>
          </p:cNvCxnSpPr>
          <p:nvPr/>
        </p:nvCxnSpPr>
        <p:spPr>
          <a:xfrm>
            <a:off x="2038350" y="2714625"/>
            <a:ext cx="314325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cxnSp>
        <p:nvCxnSpPr>
          <p:cNvPr id="575" name="直接箭头连接符 574"/>
          <p:cNvCxnSpPr>
            <a:stCxn id="536" idx="3"/>
            <a:endCxn id="537" idx="1"/>
          </p:cNvCxnSpPr>
          <p:nvPr/>
        </p:nvCxnSpPr>
        <p:spPr>
          <a:xfrm>
            <a:off x="3933825" y="2714625"/>
            <a:ext cx="314325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cxnSp>
        <p:nvCxnSpPr>
          <p:cNvPr id="576" name="直接箭头连接符 575"/>
          <p:cNvCxnSpPr>
            <a:stCxn id="537" idx="3"/>
            <a:endCxn id="538" idx="1"/>
          </p:cNvCxnSpPr>
          <p:nvPr/>
        </p:nvCxnSpPr>
        <p:spPr>
          <a:xfrm>
            <a:off x="5829300" y="2714625"/>
            <a:ext cx="314325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cxnSp>
        <p:nvCxnSpPr>
          <p:cNvPr id="577" name="直接箭头连接符 576"/>
          <p:cNvCxnSpPr>
            <a:stCxn id="538" idx="3"/>
            <a:endCxn id="539" idx="1"/>
          </p:cNvCxnSpPr>
          <p:nvPr/>
        </p:nvCxnSpPr>
        <p:spPr>
          <a:xfrm>
            <a:off x="7724775" y="2714625"/>
            <a:ext cx="314325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cxnSp>
        <p:nvCxnSpPr>
          <p:cNvPr id="578" name="直接箭头连接符 577"/>
          <p:cNvCxnSpPr>
            <a:stCxn id="539" idx="3"/>
            <a:endCxn id="540" idx="1"/>
          </p:cNvCxnSpPr>
          <p:nvPr/>
        </p:nvCxnSpPr>
        <p:spPr>
          <a:xfrm>
            <a:off x="9620250" y="2714625"/>
            <a:ext cx="314325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sp>
        <p:nvSpPr>
          <p:cNvPr id="546" name="矩形 545"/>
          <p:cNvSpPr>
            <a:spLocks noGrp="1"/>
          </p:cNvSpPr>
          <p:nvPr/>
        </p:nvSpPr>
        <p:spPr>
          <a:xfrm>
            <a:off x="5038725" y="321945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47" name="矩形 546"/>
          <p:cNvSpPr>
            <a:spLocks noGrp="1"/>
          </p:cNvSpPr>
          <p:nvPr/>
        </p:nvSpPr>
        <p:spPr>
          <a:xfrm>
            <a:off x="5038725" y="398145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48" name="矩形 547"/>
          <p:cNvSpPr>
            <a:spLocks noGrp="1"/>
          </p:cNvSpPr>
          <p:nvPr/>
        </p:nvSpPr>
        <p:spPr>
          <a:xfrm>
            <a:off x="3152775" y="398145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49" name="矩形 548"/>
          <p:cNvSpPr>
            <a:spLocks noGrp="1"/>
          </p:cNvSpPr>
          <p:nvPr/>
        </p:nvSpPr>
        <p:spPr>
          <a:xfrm>
            <a:off x="3152775" y="3219450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83" name="直接箭头连接符 582"/>
          <p:cNvCxnSpPr>
            <a:stCxn id="546" idx="2"/>
            <a:endCxn id="547" idx="0"/>
          </p:cNvCxnSpPr>
          <p:nvPr/>
        </p:nvCxnSpPr>
        <p:spPr>
          <a:xfrm>
            <a:off x="5039678" y="3221355"/>
            <a:ext cx="0" cy="760095"/>
          </a:xfrm>
          <a:prstGeom prst="straightConnector1">
            <a:avLst/>
          </a:prstGeom>
          <a:ln w="19050">
            <a:solidFill>
              <a:srgbClr val="AD6C13"/>
            </a:solidFill>
            <a:prstDash val="solid"/>
            <a:tailEnd type="none" w="sm" len="sm"/>
          </a:ln>
        </p:spPr>
      </p:cxnSp>
      <p:cxnSp>
        <p:nvCxnSpPr>
          <p:cNvPr id="584" name="直接箭头连接符 583"/>
          <p:cNvCxnSpPr>
            <a:stCxn id="547" idx="1"/>
            <a:endCxn id="548" idx="3"/>
          </p:cNvCxnSpPr>
          <p:nvPr/>
        </p:nvCxnSpPr>
        <p:spPr>
          <a:xfrm flipH="1">
            <a:off x="3154680" y="3982403"/>
            <a:ext cx="1884045" cy="0"/>
          </a:xfrm>
          <a:prstGeom prst="straightConnector1">
            <a:avLst/>
          </a:prstGeom>
          <a:ln w="19050">
            <a:solidFill>
              <a:srgbClr val="AD6C13"/>
            </a:solidFill>
            <a:prstDash val="solid"/>
            <a:tailEnd type="none" w="sm" len="sm"/>
          </a:ln>
        </p:spPr>
      </p:cxnSp>
      <p:cxnSp>
        <p:nvCxnSpPr>
          <p:cNvPr id="585" name="直接箭头连接符 584"/>
          <p:cNvCxnSpPr>
            <a:stCxn id="548" idx="0"/>
            <a:endCxn id="549" idx="2"/>
          </p:cNvCxnSpPr>
          <p:nvPr/>
        </p:nvCxnSpPr>
        <p:spPr>
          <a:xfrm flipV="1">
            <a:off x="3153728" y="3221355"/>
            <a:ext cx="0" cy="760095"/>
          </a:xfrm>
          <a:prstGeom prst="straightConnector1">
            <a:avLst/>
          </a:prstGeom>
          <a:ln w="19050">
            <a:solidFill>
              <a:srgbClr val="AD6C13"/>
            </a:solidFill>
            <a:prstDash val="solid"/>
            <a:tailEnd type="triangle" w="sm" len="sm"/>
          </a:ln>
        </p:spPr>
      </p:cxnSp>
      <p:sp>
        <p:nvSpPr>
          <p:cNvPr id="553" name="矩形 552"/>
          <p:cNvSpPr>
            <a:spLocks noGrp="1"/>
          </p:cNvSpPr>
          <p:nvPr/>
        </p:nvSpPr>
        <p:spPr>
          <a:xfrm>
            <a:off x="3524250" y="4105275"/>
            <a:ext cx="3524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725" b="0">
                <a:solidFill>
                  <a:srgbClr val="AD6C13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0">
                <a:solidFill>
                  <a:srgbClr val="AD6C13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编译失败：返回真实错误</a:t>
            </a:r>
            <a:endParaRPr sz="1725" b="0">
              <a:solidFill>
                <a:srgbClr val="AD6C13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54" name="矩形 553"/>
          <p:cNvSpPr>
            <a:spLocks noGrp="1"/>
          </p:cNvSpPr>
          <p:nvPr/>
        </p:nvSpPr>
        <p:spPr>
          <a:xfrm>
            <a:off x="8829675" y="321945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55" name="矩形 554"/>
          <p:cNvSpPr>
            <a:spLocks noGrp="1"/>
          </p:cNvSpPr>
          <p:nvPr/>
        </p:nvSpPr>
        <p:spPr>
          <a:xfrm>
            <a:off x="8829675" y="468630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56" name="矩形 555"/>
          <p:cNvSpPr>
            <a:spLocks noGrp="1"/>
          </p:cNvSpPr>
          <p:nvPr/>
        </p:nvSpPr>
        <p:spPr>
          <a:xfrm>
            <a:off x="3152775" y="468630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57" name="矩形 556"/>
          <p:cNvSpPr>
            <a:spLocks noGrp="1"/>
          </p:cNvSpPr>
          <p:nvPr/>
        </p:nvSpPr>
        <p:spPr>
          <a:xfrm>
            <a:off x="3152775" y="3219450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91" name="直接箭头连接符 590"/>
          <p:cNvCxnSpPr>
            <a:stCxn id="554" idx="2"/>
            <a:endCxn id="555" idx="0"/>
          </p:cNvCxnSpPr>
          <p:nvPr/>
        </p:nvCxnSpPr>
        <p:spPr>
          <a:xfrm>
            <a:off x="8830628" y="3221355"/>
            <a:ext cx="0" cy="1464945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none" w="sm" len="sm"/>
          </a:ln>
        </p:spPr>
      </p:cxnSp>
      <p:cxnSp>
        <p:nvCxnSpPr>
          <p:cNvPr id="592" name="直接箭头连接符 591"/>
          <p:cNvCxnSpPr>
            <a:stCxn id="555" idx="1"/>
            <a:endCxn id="556" idx="3"/>
          </p:cNvCxnSpPr>
          <p:nvPr/>
        </p:nvCxnSpPr>
        <p:spPr>
          <a:xfrm flipH="1">
            <a:off x="3154680" y="4687253"/>
            <a:ext cx="5674995" cy="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none" w="sm" len="sm"/>
          </a:ln>
        </p:spPr>
      </p:cxnSp>
      <p:cxnSp>
        <p:nvCxnSpPr>
          <p:cNvPr id="593" name="直接箭头连接符 592"/>
          <p:cNvCxnSpPr>
            <a:stCxn id="556" idx="0"/>
            <a:endCxn id="557" idx="2"/>
          </p:cNvCxnSpPr>
          <p:nvPr/>
        </p:nvCxnSpPr>
        <p:spPr>
          <a:xfrm flipV="1">
            <a:off x="3153728" y="3221355"/>
            <a:ext cx="0" cy="1464945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561" name="矩形 560"/>
          <p:cNvSpPr>
            <a:spLocks noGrp="1"/>
          </p:cNvSpPr>
          <p:nvPr/>
        </p:nvSpPr>
        <p:spPr>
          <a:xfrm>
            <a:off x="5534025" y="4810125"/>
            <a:ext cx="50196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725" b="0">
                <a:solidFill>
                  <a:srgbClr val="087F8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0">
                <a:solidFill>
                  <a:srgbClr val="087F8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仍有差异且预算允许：继续修正</a:t>
            </a:r>
            <a:endParaRPr sz="1725" b="0">
              <a:solidFill>
                <a:srgbClr val="087F8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62" name="矩形 561"/>
          <p:cNvSpPr>
            <a:spLocks noGrp="1"/>
          </p:cNvSpPr>
          <p:nvPr/>
        </p:nvSpPr>
        <p:spPr>
          <a:xfrm>
            <a:off x="457200" y="5372100"/>
            <a:ext cx="714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2100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输出约束</a:t>
            </a:r>
            <a:endParaRPr sz="2100" b="1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63" name="矩形 562"/>
          <p:cNvSpPr>
            <a:spLocks noGrp="1"/>
          </p:cNvSpPr>
          <p:nvPr/>
        </p:nvSpPr>
        <p:spPr>
          <a:xfrm>
            <a:off x="457200" y="5895975"/>
            <a:ext cx="7143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只交付成功渲染且已提供预览的候选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64" name="矩形 563"/>
          <p:cNvSpPr>
            <a:spLocks noGrp="1"/>
          </p:cNvSpPr>
          <p:nvPr/>
        </p:nvSpPr>
        <p:spPr>
          <a:xfrm>
            <a:off x="8553450" y="5391150"/>
            <a:ext cx="31813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默认最多 3 次渲染尝试</a:t>
            </a:r>
            <a:endParaRPr sz="1800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失败也计入预算</a:t>
            </a:r>
            <a:endParaRPr sz="1800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" name="Google Shape;532;p58"/>
          <p:cNvSpPr>
            <a:spLocks noGrp="1"/>
          </p:cNvSpPr>
          <p:nvPr/>
        </p:nvSpPr>
        <p:spPr>
          <a:xfrm>
            <a:off x="10763250" y="6419850"/>
            <a:ext cx="971550" cy="238125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 marL="0" indent="0" algn="r">
              <a:spcBef>
                <a:spcPts val="0"/>
              </a:spcBef>
              <a:buNone/>
              <a:defRPr sz="1275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fld id="{222FA6F3-9A2D-EAC0-9663-ACAB6A7F1ED7}" type="slidenum">
              <a:rPr sz="1275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</a:fld>
            <a:endParaRPr sz="1275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3" name="Google Shape;533;p58"/>
          <p:cNvSpPr>
            <a:spLocks noGrp="1"/>
          </p:cNvSpPr>
          <p:nvPr/>
        </p:nvSpPr>
        <p:spPr>
          <a:xfrm>
            <a:off x="457200" y="352425"/>
            <a:ext cx="11277600" cy="723900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  <a:buNone/>
              <a:defRPr sz="32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2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多视角分析流程：独立输入、集中登记、带来源综合</a:t>
            </a:r>
            <a:endParaRPr sz="3225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4" name="矩形 533"/>
          <p:cNvSpPr>
            <a:spLocks noGrp="1"/>
          </p:cNvSpPr>
          <p:nvPr/>
        </p:nvSpPr>
        <p:spPr>
          <a:xfrm>
            <a:off x="457200" y="1133475"/>
            <a:ext cx="112776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主 Agent 决定分析问题，执行器约束并发并保存每个子任务的结果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5" name="圆角矩形 534"/>
          <p:cNvSpPr>
            <a:spLocks noGrp="1"/>
          </p:cNvSpPr>
          <p:nvPr/>
        </p:nvSpPr>
        <p:spPr>
          <a:xfrm>
            <a:off x="457200" y="2705100"/>
            <a:ext cx="1943100" cy="1066800"/>
          </a:xfrm>
          <a:prstGeom prst="roundRect">
            <a:avLst>
              <a:gd name="adj" fmla="val 6250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固定参考 PNG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主分析任务</a:t>
            </a:r>
          </a:p>
        </p:txBody>
      </p:sp>
      <p:sp>
        <p:nvSpPr>
          <p:cNvPr id="536" name="圆角矩形 535"/>
          <p:cNvSpPr>
            <a:spLocks noGrp="1"/>
          </p:cNvSpPr>
          <p:nvPr/>
        </p:nvSpPr>
        <p:spPr>
          <a:xfrm>
            <a:off x="2905125" y="2705100"/>
            <a:ext cx="2105025" cy="1066800"/>
          </a:xfrm>
          <a:prstGeom prst="roundRect">
            <a:avLst>
              <a:gd name="adj" fmla="val 6250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主 Agent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选视角 / 定问题</a:t>
            </a:r>
          </a:p>
        </p:txBody>
      </p:sp>
      <p:cxnSp>
        <p:nvCxnSpPr>
          <p:cNvPr id="613" name="直接箭头连接符 612"/>
          <p:cNvCxnSpPr>
            <a:stCxn id="535" idx="3"/>
            <a:endCxn id="536" idx="1"/>
          </p:cNvCxnSpPr>
          <p:nvPr/>
        </p:nvCxnSpPr>
        <p:spPr>
          <a:xfrm>
            <a:off x="2400300" y="3238500"/>
            <a:ext cx="504825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sp>
        <p:nvSpPr>
          <p:cNvPr id="538" name="圆角矩形 537"/>
          <p:cNvSpPr>
            <a:spLocks noGrp="1"/>
          </p:cNvSpPr>
          <p:nvPr/>
        </p:nvSpPr>
        <p:spPr>
          <a:xfrm>
            <a:off x="5867400" y="1733550"/>
            <a:ext cx="2400300" cy="647700"/>
          </a:xfrm>
          <a:prstGeom prst="roundRect">
            <a:avLst>
              <a:gd name="adj" fmla="val 10294"/>
            </a:avLst>
          </a:prstGeom>
          <a:solidFill>
            <a:srgbClr val="EAF5F5"/>
          </a:solidFill>
          <a:ln w="15240">
            <a:solidFill>
              <a:srgbClr val="087F8C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2D 图形</a:t>
            </a:r>
          </a:p>
        </p:txBody>
      </p:sp>
      <p:sp>
        <p:nvSpPr>
          <p:cNvPr id="539" name="圆角矩形 538"/>
          <p:cNvSpPr>
            <a:spLocks noGrp="1"/>
          </p:cNvSpPr>
          <p:nvPr/>
        </p:nvSpPr>
        <p:spPr>
          <a:xfrm>
            <a:off x="5867400" y="2705100"/>
            <a:ext cx="2400300" cy="647700"/>
          </a:xfrm>
          <a:prstGeom prst="roundRect">
            <a:avLst>
              <a:gd name="adj" fmla="val 10294"/>
            </a:avLst>
          </a:prstGeom>
          <a:solidFill>
            <a:srgbClr val="EAF5F5"/>
          </a:solidFill>
          <a:ln w="15240">
            <a:solidFill>
              <a:srgbClr val="087F8C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3D 空间</a:t>
            </a:r>
          </a:p>
        </p:txBody>
      </p:sp>
      <p:sp>
        <p:nvSpPr>
          <p:cNvPr id="540" name="圆角矩形 539"/>
          <p:cNvSpPr>
            <a:spLocks noGrp="1"/>
          </p:cNvSpPr>
          <p:nvPr/>
        </p:nvSpPr>
        <p:spPr>
          <a:xfrm>
            <a:off x="5867400" y="3676650"/>
            <a:ext cx="2400300" cy="647700"/>
          </a:xfrm>
          <a:prstGeom prst="roundRect">
            <a:avLst>
              <a:gd name="adj" fmla="val 10294"/>
            </a:avLst>
          </a:prstGeom>
          <a:solidFill>
            <a:srgbClr val="EAF5F5"/>
          </a:solidFill>
          <a:ln w="15240">
            <a:solidFill>
              <a:srgbClr val="087F8C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视觉与美学</a:t>
            </a:r>
          </a:p>
        </p:txBody>
      </p:sp>
      <p:sp>
        <p:nvSpPr>
          <p:cNvPr id="541" name="圆角矩形 540"/>
          <p:cNvSpPr>
            <a:spLocks noGrp="1"/>
          </p:cNvSpPr>
          <p:nvPr/>
        </p:nvSpPr>
        <p:spPr>
          <a:xfrm>
            <a:off x="5867400" y="4648200"/>
            <a:ext cx="2400300" cy="647700"/>
          </a:xfrm>
          <a:prstGeom prst="roundRect">
            <a:avLst>
              <a:gd name="adj" fmla="val 10294"/>
            </a:avLst>
          </a:prstGeom>
          <a:solidFill>
            <a:srgbClr val="EAF5F5"/>
          </a:solidFill>
          <a:ln w="15240">
            <a:solidFill>
              <a:srgbClr val="087F8C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物理与组成</a:t>
            </a:r>
          </a:p>
        </p:txBody>
      </p:sp>
      <p:sp>
        <p:nvSpPr>
          <p:cNvPr id="542" name="矩形 541"/>
          <p:cNvSpPr>
            <a:spLocks noGrp="1"/>
          </p:cNvSpPr>
          <p:nvPr/>
        </p:nvSpPr>
        <p:spPr>
          <a:xfrm>
            <a:off x="5010150" y="323850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43" name="矩形 542"/>
          <p:cNvSpPr>
            <a:spLocks noGrp="1"/>
          </p:cNvSpPr>
          <p:nvPr/>
        </p:nvSpPr>
        <p:spPr>
          <a:xfrm>
            <a:off x="5467350" y="323850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44" name="矩形 543"/>
          <p:cNvSpPr>
            <a:spLocks noGrp="1"/>
          </p:cNvSpPr>
          <p:nvPr/>
        </p:nvSpPr>
        <p:spPr>
          <a:xfrm>
            <a:off x="5467350" y="205740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45" name="矩形 544"/>
          <p:cNvSpPr>
            <a:spLocks noGrp="1"/>
          </p:cNvSpPr>
          <p:nvPr/>
        </p:nvSpPr>
        <p:spPr>
          <a:xfrm>
            <a:off x="5867400" y="2057400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22" name="直接箭头连接符 621"/>
          <p:cNvCxnSpPr>
            <a:stCxn id="542" idx="3"/>
            <a:endCxn id="543" idx="1"/>
          </p:cNvCxnSpPr>
          <p:nvPr/>
        </p:nvCxnSpPr>
        <p:spPr>
          <a:xfrm>
            <a:off x="5012055" y="3239453"/>
            <a:ext cx="455295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none" w="sm" len="sm"/>
          </a:ln>
        </p:spPr>
      </p:cxnSp>
      <p:cxnSp>
        <p:nvCxnSpPr>
          <p:cNvPr id="623" name="直接箭头连接符 622"/>
          <p:cNvCxnSpPr>
            <a:stCxn id="543" idx="0"/>
            <a:endCxn id="544" idx="2"/>
          </p:cNvCxnSpPr>
          <p:nvPr/>
        </p:nvCxnSpPr>
        <p:spPr>
          <a:xfrm flipV="1">
            <a:off x="5468303" y="2059305"/>
            <a:ext cx="0" cy="1179195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none" w="sm" len="sm"/>
          </a:ln>
        </p:spPr>
      </p:cxnSp>
      <p:cxnSp>
        <p:nvCxnSpPr>
          <p:cNvPr id="624" name="直接箭头连接符 623"/>
          <p:cNvCxnSpPr>
            <a:stCxn id="544" idx="3"/>
            <a:endCxn id="545" idx="1"/>
          </p:cNvCxnSpPr>
          <p:nvPr/>
        </p:nvCxnSpPr>
        <p:spPr>
          <a:xfrm>
            <a:off x="5469255" y="2058353"/>
            <a:ext cx="398145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sp>
        <p:nvSpPr>
          <p:cNvPr id="549" name="矩形 548"/>
          <p:cNvSpPr>
            <a:spLocks noGrp="1"/>
          </p:cNvSpPr>
          <p:nvPr/>
        </p:nvSpPr>
        <p:spPr>
          <a:xfrm>
            <a:off x="5010150" y="323850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50" name="矩形 549"/>
          <p:cNvSpPr>
            <a:spLocks noGrp="1"/>
          </p:cNvSpPr>
          <p:nvPr/>
        </p:nvSpPr>
        <p:spPr>
          <a:xfrm>
            <a:off x="5467350" y="323850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51" name="矩形 550"/>
          <p:cNvSpPr>
            <a:spLocks noGrp="1"/>
          </p:cNvSpPr>
          <p:nvPr/>
        </p:nvSpPr>
        <p:spPr>
          <a:xfrm>
            <a:off x="5467350" y="302895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52" name="矩形 551"/>
          <p:cNvSpPr>
            <a:spLocks noGrp="1"/>
          </p:cNvSpPr>
          <p:nvPr/>
        </p:nvSpPr>
        <p:spPr>
          <a:xfrm>
            <a:off x="5867400" y="3028950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29" name="直接箭头连接符 628"/>
          <p:cNvCxnSpPr>
            <a:stCxn id="549" idx="3"/>
            <a:endCxn id="550" idx="1"/>
          </p:cNvCxnSpPr>
          <p:nvPr/>
        </p:nvCxnSpPr>
        <p:spPr>
          <a:xfrm>
            <a:off x="5012055" y="3239453"/>
            <a:ext cx="455295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none" w="sm" len="sm"/>
          </a:ln>
        </p:spPr>
      </p:cxnSp>
      <p:cxnSp>
        <p:nvCxnSpPr>
          <p:cNvPr id="630" name="直接箭头连接符 629"/>
          <p:cNvCxnSpPr>
            <a:stCxn id="550" idx="0"/>
            <a:endCxn id="551" idx="2"/>
          </p:cNvCxnSpPr>
          <p:nvPr/>
        </p:nvCxnSpPr>
        <p:spPr>
          <a:xfrm flipV="1">
            <a:off x="5468303" y="3030855"/>
            <a:ext cx="0" cy="207645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none" w="sm" len="sm"/>
          </a:ln>
        </p:spPr>
      </p:cxnSp>
      <p:cxnSp>
        <p:nvCxnSpPr>
          <p:cNvPr id="631" name="直接箭头连接符 630"/>
          <p:cNvCxnSpPr>
            <a:stCxn id="551" idx="3"/>
            <a:endCxn id="552" idx="1"/>
          </p:cNvCxnSpPr>
          <p:nvPr/>
        </p:nvCxnSpPr>
        <p:spPr>
          <a:xfrm>
            <a:off x="5469255" y="3029903"/>
            <a:ext cx="398145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sp>
        <p:nvSpPr>
          <p:cNvPr id="556" name="矩形 555"/>
          <p:cNvSpPr>
            <a:spLocks noGrp="1"/>
          </p:cNvSpPr>
          <p:nvPr/>
        </p:nvSpPr>
        <p:spPr>
          <a:xfrm>
            <a:off x="5010150" y="323850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57" name="矩形 556"/>
          <p:cNvSpPr>
            <a:spLocks noGrp="1"/>
          </p:cNvSpPr>
          <p:nvPr/>
        </p:nvSpPr>
        <p:spPr>
          <a:xfrm>
            <a:off x="5467350" y="323850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58" name="矩形 557"/>
          <p:cNvSpPr>
            <a:spLocks noGrp="1"/>
          </p:cNvSpPr>
          <p:nvPr/>
        </p:nvSpPr>
        <p:spPr>
          <a:xfrm>
            <a:off x="5467350" y="400050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59" name="矩形 558"/>
          <p:cNvSpPr>
            <a:spLocks noGrp="1"/>
          </p:cNvSpPr>
          <p:nvPr/>
        </p:nvSpPr>
        <p:spPr>
          <a:xfrm>
            <a:off x="5867400" y="4000500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36" name="直接箭头连接符 635"/>
          <p:cNvCxnSpPr>
            <a:stCxn id="556" idx="3"/>
            <a:endCxn id="557" idx="1"/>
          </p:cNvCxnSpPr>
          <p:nvPr/>
        </p:nvCxnSpPr>
        <p:spPr>
          <a:xfrm>
            <a:off x="5012055" y="3239453"/>
            <a:ext cx="455295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none" w="sm" len="sm"/>
          </a:ln>
        </p:spPr>
      </p:cxnSp>
      <p:cxnSp>
        <p:nvCxnSpPr>
          <p:cNvPr id="637" name="直接箭头连接符 636"/>
          <p:cNvCxnSpPr>
            <a:stCxn id="557" idx="2"/>
            <a:endCxn id="558" idx="0"/>
          </p:cNvCxnSpPr>
          <p:nvPr/>
        </p:nvCxnSpPr>
        <p:spPr>
          <a:xfrm>
            <a:off x="5468303" y="3240405"/>
            <a:ext cx="0" cy="760095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none" w="sm" len="sm"/>
          </a:ln>
        </p:spPr>
      </p:cxnSp>
      <p:cxnSp>
        <p:nvCxnSpPr>
          <p:cNvPr id="638" name="直接箭头连接符 637"/>
          <p:cNvCxnSpPr>
            <a:stCxn id="558" idx="3"/>
            <a:endCxn id="559" idx="1"/>
          </p:cNvCxnSpPr>
          <p:nvPr/>
        </p:nvCxnSpPr>
        <p:spPr>
          <a:xfrm>
            <a:off x="5469255" y="4001453"/>
            <a:ext cx="398145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sp>
        <p:nvSpPr>
          <p:cNvPr id="563" name="矩形 562"/>
          <p:cNvSpPr>
            <a:spLocks noGrp="1"/>
          </p:cNvSpPr>
          <p:nvPr/>
        </p:nvSpPr>
        <p:spPr>
          <a:xfrm>
            <a:off x="5010150" y="323850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64" name="矩形 563"/>
          <p:cNvSpPr>
            <a:spLocks noGrp="1"/>
          </p:cNvSpPr>
          <p:nvPr/>
        </p:nvSpPr>
        <p:spPr>
          <a:xfrm>
            <a:off x="5467350" y="323850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65" name="矩形 564"/>
          <p:cNvSpPr>
            <a:spLocks noGrp="1"/>
          </p:cNvSpPr>
          <p:nvPr/>
        </p:nvSpPr>
        <p:spPr>
          <a:xfrm>
            <a:off x="5467350" y="497205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66" name="矩形 565"/>
          <p:cNvSpPr>
            <a:spLocks noGrp="1"/>
          </p:cNvSpPr>
          <p:nvPr/>
        </p:nvSpPr>
        <p:spPr>
          <a:xfrm>
            <a:off x="5867400" y="4972050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43" name="直接箭头连接符 642"/>
          <p:cNvCxnSpPr>
            <a:stCxn id="563" idx="3"/>
            <a:endCxn id="564" idx="1"/>
          </p:cNvCxnSpPr>
          <p:nvPr/>
        </p:nvCxnSpPr>
        <p:spPr>
          <a:xfrm>
            <a:off x="5012055" y="3239453"/>
            <a:ext cx="455295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none" w="sm" len="sm"/>
          </a:ln>
        </p:spPr>
      </p:cxnSp>
      <p:cxnSp>
        <p:nvCxnSpPr>
          <p:cNvPr id="644" name="直接箭头连接符 643"/>
          <p:cNvCxnSpPr>
            <a:stCxn id="564" idx="2"/>
            <a:endCxn id="565" idx="0"/>
          </p:cNvCxnSpPr>
          <p:nvPr/>
        </p:nvCxnSpPr>
        <p:spPr>
          <a:xfrm>
            <a:off x="5468303" y="3240405"/>
            <a:ext cx="0" cy="1731645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none" w="sm" len="sm"/>
          </a:ln>
        </p:spPr>
      </p:cxnSp>
      <p:cxnSp>
        <p:nvCxnSpPr>
          <p:cNvPr id="645" name="直接箭头连接符 644"/>
          <p:cNvCxnSpPr>
            <a:stCxn id="565" idx="3"/>
            <a:endCxn id="566" idx="1"/>
          </p:cNvCxnSpPr>
          <p:nvPr/>
        </p:nvCxnSpPr>
        <p:spPr>
          <a:xfrm>
            <a:off x="5469255" y="4973003"/>
            <a:ext cx="398145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sp>
        <p:nvSpPr>
          <p:cNvPr id="570" name="圆角矩形 569"/>
          <p:cNvSpPr>
            <a:spLocks noGrp="1"/>
          </p:cNvSpPr>
          <p:nvPr/>
        </p:nvSpPr>
        <p:spPr>
          <a:xfrm>
            <a:off x="9239250" y="2600325"/>
            <a:ext cx="2505075" cy="1295400"/>
          </a:xfrm>
          <a:prstGeom prst="roundRect">
            <a:avLst>
              <a:gd name="adj" fmla="val 5147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95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主 Agent 综合</a:t>
            </a:r>
          </a:p>
          <a:p>
            <a:pPr marL="0" indent="0" algn="ctr">
              <a:spcBef>
                <a:spcPts val="0"/>
              </a:spcBef>
              <a:buNone/>
              <a:defRPr sz="195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引用原始报告</a:t>
            </a:r>
          </a:p>
          <a:p>
            <a:pPr marL="0" indent="0" algn="ctr">
              <a:spcBef>
                <a:spcPts val="0"/>
              </a:spcBef>
              <a:buNone/>
              <a:defRPr sz="195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保留分歧与未决问题</a:t>
            </a:r>
          </a:p>
        </p:txBody>
      </p:sp>
      <p:sp>
        <p:nvSpPr>
          <p:cNvPr id="571" name="矩形 570"/>
          <p:cNvSpPr>
            <a:spLocks noGrp="1"/>
          </p:cNvSpPr>
          <p:nvPr/>
        </p:nvSpPr>
        <p:spPr>
          <a:xfrm>
            <a:off x="8267700" y="205740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72" name="矩形 571"/>
          <p:cNvSpPr>
            <a:spLocks noGrp="1"/>
          </p:cNvSpPr>
          <p:nvPr/>
        </p:nvSpPr>
        <p:spPr>
          <a:xfrm>
            <a:off x="8753475" y="205740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73" name="矩形 572"/>
          <p:cNvSpPr>
            <a:spLocks noGrp="1"/>
          </p:cNvSpPr>
          <p:nvPr/>
        </p:nvSpPr>
        <p:spPr>
          <a:xfrm>
            <a:off x="8753475" y="3248025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74" name="矩形 573"/>
          <p:cNvSpPr>
            <a:spLocks noGrp="1"/>
          </p:cNvSpPr>
          <p:nvPr/>
        </p:nvSpPr>
        <p:spPr>
          <a:xfrm>
            <a:off x="9239250" y="3248025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51" name="直接箭头连接符 650"/>
          <p:cNvCxnSpPr>
            <a:stCxn id="571" idx="3"/>
            <a:endCxn id="572" idx="1"/>
          </p:cNvCxnSpPr>
          <p:nvPr/>
        </p:nvCxnSpPr>
        <p:spPr>
          <a:xfrm>
            <a:off x="8269605" y="2058353"/>
            <a:ext cx="483870" cy="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none" w="sm" len="sm"/>
          </a:ln>
        </p:spPr>
      </p:cxnSp>
      <p:cxnSp>
        <p:nvCxnSpPr>
          <p:cNvPr id="652" name="直接箭头连接符 651"/>
          <p:cNvCxnSpPr>
            <a:stCxn id="572" idx="2"/>
            <a:endCxn id="573" idx="0"/>
          </p:cNvCxnSpPr>
          <p:nvPr/>
        </p:nvCxnSpPr>
        <p:spPr>
          <a:xfrm>
            <a:off x="8754428" y="2059305"/>
            <a:ext cx="0" cy="118872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none" w="sm" len="sm"/>
          </a:ln>
        </p:spPr>
      </p:cxnSp>
      <p:cxnSp>
        <p:nvCxnSpPr>
          <p:cNvPr id="653" name="直接箭头连接符 652"/>
          <p:cNvCxnSpPr>
            <a:stCxn id="573" idx="3"/>
            <a:endCxn id="574" idx="1"/>
          </p:cNvCxnSpPr>
          <p:nvPr/>
        </p:nvCxnSpPr>
        <p:spPr>
          <a:xfrm>
            <a:off x="8755380" y="3248978"/>
            <a:ext cx="483870" cy="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578" name="矩形 577"/>
          <p:cNvSpPr>
            <a:spLocks noGrp="1"/>
          </p:cNvSpPr>
          <p:nvPr/>
        </p:nvSpPr>
        <p:spPr>
          <a:xfrm>
            <a:off x="8267700" y="302895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79" name="矩形 578"/>
          <p:cNvSpPr>
            <a:spLocks noGrp="1"/>
          </p:cNvSpPr>
          <p:nvPr/>
        </p:nvSpPr>
        <p:spPr>
          <a:xfrm>
            <a:off x="8753475" y="302895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80" name="矩形 579"/>
          <p:cNvSpPr>
            <a:spLocks noGrp="1"/>
          </p:cNvSpPr>
          <p:nvPr/>
        </p:nvSpPr>
        <p:spPr>
          <a:xfrm>
            <a:off x="8753475" y="3248025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81" name="矩形 580"/>
          <p:cNvSpPr>
            <a:spLocks noGrp="1"/>
          </p:cNvSpPr>
          <p:nvPr/>
        </p:nvSpPr>
        <p:spPr>
          <a:xfrm>
            <a:off x="9239250" y="3248025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58" name="直接箭头连接符 657"/>
          <p:cNvCxnSpPr>
            <a:stCxn id="578" idx="3"/>
            <a:endCxn id="579" idx="1"/>
          </p:cNvCxnSpPr>
          <p:nvPr/>
        </p:nvCxnSpPr>
        <p:spPr>
          <a:xfrm>
            <a:off x="8269605" y="3029903"/>
            <a:ext cx="483870" cy="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none" w="sm" len="sm"/>
          </a:ln>
        </p:spPr>
      </p:cxnSp>
      <p:cxnSp>
        <p:nvCxnSpPr>
          <p:cNvPr id="659" name="直接箭头连接符 658"/>
          <p:cNvCxnSpPr>
            <a:stCxn id="579" idx="2"/>
            <a:endCxn id="580" idx="0"/>
          </p:cNvCxnSpPr>
          <p:nvPr/>
        </p:nvCxnSpPr>
        <p:spPr>
          <a:xfrm>
            <a:off x="8754428" y="3030855"/>
            <a:ext cx="0" cy="21717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none" w="sm" len="sm"/>
          </a:ln>
        </p:spPr>
      </p:cxnSp>
      <p:cxnSp>
        <p:nvCxnSpPr>
          <p:cNvPr id="660" name="直接箭头连接符 659"/>
          <p:cNvCxnSpPr>
            <a:stCxn id="580" idx="3"/>
            <a:endCxn id="581" idx="1"/>
          </p:cNvCxnSpPr>
          <p:nvPr/>
        </p:nvCxnSpPr>
        <p:spPr>
          <a:xfrm>
            <a:off x="8755380" y="3248978"/>
            <a:ext cx="483870" cy="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585" name="矩形 584"/>
          <p:cNvSpPr>
            <a:spLocks noGrp="1"/>
          </p:cNvSpPr>
          <p:nvPr/>
        </p:nvSpPr>
        <p:spPr>
          <a:xfrm>
            <a:off x="8267700" y="400050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86" name="矩形 585"/>
          <p:cNvSpPr>
            <a:spLocks noGrp="1"/>
          </p:cNvSpPr>
          <p:nvPr/>
        </p:nvSpPr>
        <p:spPr>
          <a:xfrm>
            <a:off x="8753475" y="400050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87" name="矩形 586"/>
          <p:cNvSpPr>
            <a:spLocks noGrp="1"/>
          </p:cNvSpPr>
          <p:nvPr/>
        </p:nvSpPr>
        <p:spPr>
          <a:xfrm>
            <a:off x="8753475" y="3248025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88" name="矩形 587"/>
          <p:cNvSpPr>
            <a:spLocks noGrp="1"/>
          </p:cNvSpPr>
          <p:nvPr/>
        </p:nvSpPr>
        <p:spPr>
          <a:xfrm>
            <a:off x="9239250" y="3248025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65" name="直接箭头连接符 664"/>
          <p:cNvCxnSpPr>
            <a:stCxn id="585" idx="3"/>
            <a:endCxn id="586" idx="1"/>
          </p:cNvCxnSpPr>
          <p:nvPr/>
        </p:nvCxnSpPr>
        <p:spPr>
          <a:xfrm>
            <a:off x="8269605" y="4001453"/>
            <a:ext cx="483870" cy="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none" w="sm" len="sm"/>
          </a:ln>
        </p:spPr>
      </p:cxnSp>
      <p:cxnSp>
        <p:nvCxnSpPr>
          <p:cNvPr id="666" name="直接箭头连接符 665"/>
          <p:cNvCxnSpPr>
            <a:stCxn id="586" idx="0"/>
            <a:endCxn id="587" idx="2"/>
          </p:cNvCxnSpPr>
          <p:nvPr/>
        </p:nvCxnSpPr>
        <p:spPr>
          <a:xfrm flipV="1">
            <a:off x="8754428" y="3249930"/>
            <a:ext cx="0" cy="75057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none" w="sm" len="sm"/>
          </a:ln>
        </p:spPr>
      </p:cxnSp>
      <p:cxnSp>
        <p:nvCxnSpPr>
          <p:cNvPr id="667" name="直接箭头连接符 666"/>
          <p:cNvCxnSpPr>
            <a:stCxn id="587" idx="3"/>
            <a:endCxn id="588" idx="1"/>
          </p:cNvCxnSpPr>
          <p:nvPr/>
        </p:nvCxnSpPr>
        <p:spPr>
          <a:xfrm>
            <a:off x="8755380" y="3248978"/>
            <a:ext cx="483870" cy="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592" name="矩形 591"/>
          <p:cNvSpPr>
            <a:spLocks noGrp="1"/>
          </p:cNvSpPr>
          <p:nvPr/>
        </p:nvSpPr>
        <p:spPr>
          <a:xfrm>
            <a:off x="8267700" y="497205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93" name="矩形 592"/>
          <p:cNvSpPr>
            <a:spLocks noGrp="1"/>
          </p:cNvSpPr>
          <p:nvPr/>
        </p:nvSpPr>
        <p:spPr>
          <a:xfrm>
            <a:off x="8753475" y="497205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94" name="矩形 593"/>
          <p:cNvSpPr>
            <a:spLocks noGrp="1"/>
          </p:cNvSpPr>
          <p:nvPr/>
        </p:nvSpPr>
        <p:spPr>
          <a:xfrm>
            <a:off x="8753475" y="3248025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95" name="矩形 594"/>
          <p:cNvSpPr>
            <a:spLocks noGrp="1"/>
          </p:cNvSpPr>
          <p:nvPr/>
        </p:nvSpPr>
        <p:spPr>
          <a:xfrm>
            <a:off x="9239250" y="3248025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72" name="直接箭头连接符 671"/>
          <p:cNvCxnSpPr>
            <a:stCxn id="592" idx="3"/>
            <a:endCxn id="593" idx="1"/>
          </p:cNvCxnSpPr>
          <p:nvPr/>
        </p:nvCxnSpPr>
        <p:spPr>
          <a:xfrm>
            <a:off x="8269605" y="4973003"/>
            <a:ext cx="483870" cy="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none" w="sm" len="sm"/>
          </a:ln>
        </p:spPr>
      </p:cxnSp>
      <p:cxnSp>
        <p:nvCxnSpPr>
          <p:cNvPr id="673" name="直接箭头连接符 672"/>
          <p:cNvCxnSpPr>
            <a:stCxn id="593" idx="0"/>
            <a:endCxn id="594" idx="2"/>
          </p:cNvCxnSpPr>
          <p:nvPr/>
        </p:nvCxnSpPr>
        <p:spPr>
          <a:xfrm flipV="1">
            <a:off x="8754428" y="3249930"/>
            <a:ext cx="0" cy="172212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none" w="sm" len="sm"/>
          </a:ln>
        </p:spPr>
      </p:cxnSp>
      <p:cxnSp>
        <p:nvCxnSpPr>
          <p:cNvPr id="674" name="直接箭头连接符 673"/>
          <p:cNvCxnSpPr>
            <a:stCxn id="594" idx="3"/>
            <a:endCxn id="595" idx="1"/>
          </p:cNvCxnSpPr>
          <p:nvPr/>
        </p:nvCxnSpPr>
        <p:spPr>
          <a:xfrm>
            <a:off x="8755380" y="3248978"/>
            <a:ext cx="483870" cy="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599" name="矩形 598"/>
          <p:cNvSpPr>
            <a:spLocks noGrp="1"/>
          </p:cNvSpPr>
          <p:nvPr/>
        </p:nvSpPr>
        <p:spPr>
          <a:xfrm>
            <a:off x="10487025" y="3895725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00" name="矩形 599"/>
          <p:cNvSpPr>
            <a:spLocks noGrp="1"/>
          </p:cNvSpPr>
          <p:nvPr/>
        </p:nvSpPr>
        <p:spPr>
          <a:xfrm>
            <a:off x="10487025" y="5495925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01" name="矩形 600"/>
          <p:cNvSpPr>
            <a:spLocks noGrp="1"/>
          </p:cNvSpPr>
          <p:nvPr/>
        </p:nvSpPr>
        <p:spPr>
          <a:xfrm>
            <a:off x="3952875" y="5495925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02" name="矩形 601"/>
          <p:cNvSpPr>
            <a:spLocks noGrp="1"/>
          </p:cNvSpPr>
          <p:nvPr/>
        </p:nvSpPr>
        <p:spPr>
          <a:xfrm>
            <a:off x="3952875" y="3771900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79" name="直接箭头连接符 678"/>
          <p:cNvCxnSpPr>
            <a:stCxn id="599" idx="2"/>
            <a:endCxn id="600" idx="0"/>
          </p:cNvCxnSpPr>
          <p:nvPr/>
        </p:nvCxnSpPr>
        <p:spPr>
          <a:xfrm>
            <a:off x="10487978" y="3897630"/>
            <a:ext cx="0" cy="1598295"/>
          </a:xfrm>
          <a:prstGeom prst="straightConnector1">
            <a:avLst/>
          </a:prstGeom>
          <a:ln w="19050">
            <a:solidFill>
              <a:srgbClr val="AD6C13"/>
            </a:solidFill>
            <a:prstDash val="solid"/>
            <a:tailEnd type="none" w="sm" len="sm"/>
          </a:ln>
        </p:spPr>
      </p:cxnSp>
      <p:cxnSp>
        <p:nvCxnSpPr>
          <p:cNvPr id="680" name="直接箭头连接符 679"/>
          <p:cNvCxnSpPr>
            <a:stCxn id="600" idx="1"/>
            <a:endCxn id="601" idx="3"/>
          </p:cNvCxnSpPr>
          <p:nvPr/>
        </p:nvCxnSpPr>
        <p:spPr>
          <a:xfrm flipH="1">
            <a:off x="3954780" y="5496878"/>
            <a:ext cx="6532245" cy="0"/>
          </a:xfrm>
          <a:prstGeom prst="straightConnector1">
            <a:avLst/>
          </a:prstGeom>
          <a:ln w="19050">
            <a:solidFill>
              <a:srgbClr val="AD6C13"/>
            </a:solidFill>
            <a:prstDash val="solid"/>
            <a:tailEnd type="none" w="sm" len="sm"/>
          </a:ln>
        </p:spPr>
      </p:cxnSp>
      <p:cxnSp>
        <p:nvCxnSpPr>
          <p:cNvPr id="681" name="直接箭头连接符 680"/>
          <p:cNvCxnSpPr>
            <a:stCxn id="601" idx="0"/>
            <a:endCxn id="602" idx="2"/>
          </p:cNvCxnSpPr>
          <p:nvPr/>
        </p:nvCxnSpPr>
        <p:spPr>
          <a:xfrm flipV="1">
            <a:off x="3953828" y="3773805"/>
            <a:ext cx="0" cy="1722120"/>
          </a:xfrm>
          <a:prstGeom prst="straightConnector1">
            <a:avLst/>
          </a:prstGeom>
          <a:ln w="19050">
            <a:solidFill>
              <a:srgbClr val="AD6C13"/>
            </a:solidFill>
            <a:prstDash val="solid"/>
            <a:tailEnd type="triangle" w="sm" len="sm"/>
          </a:ln>
        </p:spPr>
      </p:cxnSp>
      <p:sp>
        <p:nvSpPr>
          <p:cNvPr id="606" name="矩形 605"/>
          <p:cNvSpPr>
            <a:spLocks noGrp="1"/>
          </p:cNvSpPr>
          <p:nvPr/>
        </p:nvSpPr>
        <p:spPr>
          <a:xfrm>
            <a:off x="4905375" y="5629275"/>
            <a:ext cx="6286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rgbClr val="AD6C13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0">
                <a:solidFill>
                  <a:srgbClr val="AD6C13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有具体证据缺口时，追加补充任务</a:t>
            </a:r>
            <a:endParaRPr sz="1800" b="0">
              <a:solidFill>
                <a:srgbClr val="AD6C13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07" name="矩形 606"/>
          <p:cNvSpPr>
            <a:spLocks noGrp="1"/>
          </p:cNvSpPr>
          <p:nvPr/>
        </p:nvSpPr>
        <p:spPr>
          <a:xfrm>
            <a:off x="457200" y="61150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35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首轮不共享其他视角报告。补充任务显式引用，失败结果同样保留</a:t>
            </a:r>
            <a:endParaRPr sz="1350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" name="Google Shape;532;p58"/>
          <p:cNvSpPr>
            <a:spLocks noGrp="1"/>
          </p:cNvSpPr>
          <p:nvPr/>
        </p:nvSpPr>
        <p:spPr>
          <a:xfrm>
            <a:off x="10763250" y="6419850"/>
            <a:ext cx="971550" cy="238125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 marL="0" indent="0" algn="r">
              <a:spcBef>
                <a:spcPts val="0"/>
              </a:spcBef>
              <a:buNone/>
              <a:defRPr sz="1275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fld id="{0AF9BCA0-30C3-D0A8-FEDE-03ADEC410A3E}" type="slidenum">
              <a:rPr sz="1275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</a:fld>
            <a:endParaRPr sz="1275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3" name="Google Shape;533;p58"/>
          <p:cNvSpPr>
            <a:spLocks noGrp="1"/>
          </p:cNvSpPr>
          <p:nvPr/>
        </p:nvSpPr>
        <p:spPr>
          <a:xfrm>
            <a:off x="457200" y="352425"/>
            <a:ext cx="11277600" cy="723900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  <a:buNone/>
              <a:defRPr sz="32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2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Blackboard 与 Context Builder 的数据关系</a:t>
            </a:r>
            <a:endParaRPr sz="3225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4" name="矩形 533"/>
          <p:cNvSpPr>
            <a:spLocks noGrp="1"/>
          </p:cNvSpPr>
          <p:nvPr/>
        </p:nvSpPr>
        <p:spPr>
          <a:xfrm>
            <a:off x="457200" y="1133475"/>
            <a:ext cx="112776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业务记录通过标识关联，图像和代码按需读取后进入当前模型调用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5" name="圆角矩形 534"/>
          <p:cNvSpPr>
            <a:spLocks noGrp="1"/>
          </p:cNvSpPr>
          <p:nvPr/>
        </p:nvSpPr>
        <p:spPr>
          <a:xfrm>
            <a:off x="457200" y="2114550"/>
            <a:ext cx="2447925" cy="876300"/>
          </a:xfrm>
          <a:prstGeom prst="roundRect">
            <a:avLst>
              <a:gd name="adj" fmla="val 7609"/>
            </a:avLst>
          </a:prstGeom>
          <a:solidFill>
            <a:srgbClr val="EAF5F5"/>
          </a:solidFill>
          <a:ln w="15240">
            <a:solidFill>
              <a:srgbClr val="087F8C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目标 T1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参考路径、约束</a:t>
            </a:r>
          </a:p>
        </p:txBody>
      </p:sp>
      <p:sp>
        <p:nvSpPr>
          <p:cNvPr id="536" name="圆角矩形 535"/>
          <p:cNvSpPr>
            <a:spLocks noGrp="1"/>
          </p:cNvSpPr>
          <p:nvPr/>
        </p:nvSpPr>
        <p:spPr>
          <a:xfrm>
            <a:off x="3400425" y="2114550"/>
            <a:ext cx="2447925" cy="876300"/>
          </a:xfrm>
          <a:prstGeom prst="roundRect">
            <a:avLst>
              <a:gd name="adj" fmla="val 7609"/>
            </a:avLst>
          </a:prstGeom>
          <a:solidFill>
            <a:srgbClr val="EAF5F5"/>
          </a:solidFill>
          <a:ln w="15240">
            <a:solidFill>
              <a:srgbClr val="087F8C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任务 G1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目标、基线、范围</a:t>
            </a:r>
          </a:p>
        </p:txBody>
      </p:sp>
      <p:sp>
        <p:nvSpPr>
          <p:cNvPr id="537" name="圆角矩形 536"/>
          <p:cNvSpPr>
            <a:spLocks noGrp="1"/>
          </p:cNvSpPr>
          <p:nvPr/>
        </p:nvSpPr>
        <p:spPr>
          <a:xfrm>
            <a:off x="6343650" y="2114550"/>
            <a:ext cx="2447925" cy="876300"/>
          </a:xfrm>
          <a:prstGeom prst="roundRect">
            <a:avLst>
              <a:gd name="adj" fmla="val 7609"/>
            </a:avLst>
          </a:prstGeom>
          <a:solidFill>
            <a:srgbClr val="EAF5F5"/>
          </a:solidFill>
          <a:ln w="15240">
            <a:solidFill>
              <a:srgbClr val="087F8C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候选 C1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源码路径、预览路径</a:t>
            </a:r>
          </a:p>
        </p:txBody>
      </p:sp>
      <p:sp>
        <p:nvSpPr>
          <p:cNvPr id="538" name="圆角矩形 537"/>
          <p:cNvSpPr>
            <a:spLocks noGrp="1"/>
          </p:cNvSpPr>
          <p:nvPr/>
        </p:nvSpPr>
        <p:spPr>
          <a:xfrm>
            <a:off x="9286875" y="2114550"/>
            <a:ext cx="2447925" cy="876300"/>
          </a:xfrm>
          <a:prstGeom prst="roundRect">
            <a:avLst>
              <a:gd name="adj" fmla="val 7609"/>
            </a:avLst>
          </a:prstGeom>
          <a:solidFill>
            <a:srgbClr val="EAF5F5"/>
          </a:solidFill>
          <a:ln w="15240">
            <a:solidFill>
              <a:srgbClr val="087F8C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结果 R1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观察、假设、限制</a:t>
            </a:r>
          </a:p>
        </p:txBody>
      </p:sp>
      <p:cxnSp>
        <p:nvCxnSpPr>
          <p:cNvPr id="570" name="直接箭头连接符 569"/>
          <p:cNvCxnSpPr>
            <a:stCxn id="535" idx="3"/>
            <a:endCxn id="536" idx="1"/>
          </p:cNvCxnSpPr>
          <p:nvPr/>
        </p:nvCxnSpPr>
        <p:spPr>
          <a:xfrm>
            <a:off x="2905125" y="2552700"/>
            <a:ext cx="495300" cy="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571" name="直接箭头连接符 570"/>
          <p:cNvCxnSpPr>
            <a:stCxn id="536" idx="3"/>
            <a:endCxn id="537" idx="1"/>
          </p:cNvCxnSpPr>
          <p:nvPr/>
        </p:nvCxnSpPr>
        <p:spPr>
          <a:xfrm>
            <a:off x="5848350" y="2552700"/>
            <a:ext cx="495300" cy="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572" name="直接箭头连接符 571"/>
          <p:cNvCxnSpPr>
            <a:stCxn id="537" idx="3"/>
            <a:endCxn id="538" idx="1"/>
          </p:cNvCxnSpPr>
          <p:nvPr/>
        </p:nvCxnSpPr>
        <p:spPr>
          <a:xfrm>
            <a:off x="8791575" y="2552700"/>
            <a:ext cx="495300" cy="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542" name="矩形 541"/>
          <p:cNvSpPr>
            <a:spLocks noGrp="1"/>
          </p:cNvSpPr>
          <p:nvPr/>
        </p:nvSpPr>
        <p:spPr>
          <a:xfrm>
            <a:off x="2743200" y="1752600"/>
            <a:ext cx="952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5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绑定目标</a:t>
            </a:r>
            <a:endParaRPr sz="15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43" name="矩形 542"/>
          <p:cNvSpPr>
            <a:spLocks noGrp="1"/>
          </p:cNvSpPr>
          <p:nvPr/>
        </p:nvSpPr>
        <p:spPr>
          <a:xfrm>
            <a:off x="5686425" y="1752600"/>
            <a:ext cx="952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5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来源任务</a:t>
            </a:r>
            <a:endParaRPr sz="15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44" name="矩形 543"/>
          <p:cNvSpPr>
            <a:spLocks noGrp="1"/>
          </p:cNvSpPr>
          <p:nvPr/>
        </p:nvSpPr>
        <p:spPr>
          <a:xfrm>
            <a:off x="8629650" y="1752600"/>
            <a:ext cx="952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5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引用候选</a:t>
            </a:r>
            <a:endParaRPr sz="15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45" name="圆角矩形 544"/>
          <p:cNvSpPr>
            <a:spLocks noGrp="1"/>
          </p:cNvSpPr>
          <p:nvPr/>
        </p:nvSpPr>
        <p:spPr>
          <a:xfrm>
            <a:off x="457200" y="4152900"/>
            <a:ext cx="2447925" cy="971550"/>
          </a:xfrm>
          <a:prstGeom prst="roundRect">
            <a:avLst>
              <a:gd name="adj" fmla="val 6863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read_task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读取相关业务记录</a:t>
            </a:r>
          </a:p>
        </p:txBody>
      </p:sp>
      <p:sp>
        <p:nvSpPr>
          <p:cNvPr id="546" name="圆角矩形 545"/>
          <p:cNvSpPr>
            <a:spLocks noGrp="1"/>
          </p:cNvSpPr>
          <p:nvPr/>
        </p:nvSpPr>
        <p:spPr>
          <a:xfrm>
            <a:off x="4229100" y="4152900"/>
            <a:ext cx="2990850" cy="971550"/>
          </a:xfrm>
          <a:prstGeom prst="roundRect">
            <a:avLst>
              <a:gd name="adj" fmla="val 6863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Context Builder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选材并读取制品</a:t>
            </a:r>
          </a:p>
        </p:txBody>
      </p:sp>
      <p:sp>
        <p:nvSpPr>
          <p:cNvPr id="547" name="圆角矩形 546"/>
          <p:cNvSpPr>
            <a:spLocks noGrp="1"/>
          </p:cNvSpPr>
          <p:nvPr/>
        </p:nvSpPr>
        <p:spPr>
          <a:xfrm>
            <a:off x="8620125" y="4152900"/>
            <a:ext cx="3114675" cy="971550"/>
          </a:xfrm>
          <a:prstGeom prst="roundRect">
            <a:avLst>
              <a:gd name="adj" fmla="val 6863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本轮多模态消息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图像、代码与相关反馈</a:t>
            </a:r>
          </a:p>
        </p:txBody>
      </p:sp>
      <p:cxnSp>
        <p:nvCxnSpPr>
          <p:cNvPr id="579" name="直接箭头连接符 578"/>
          <p:cNvCxnSpPr>
            <a:stCxn id="545" idx="3"/>
            <a:endCxn id="546" idx="1"/>
          </p:cNvCxnSpPr>
          <p:nvPr/>
        </p:nvCxnSpPr>
        <p:spPr>
          <a:xfrm>
            <a:off x="2905125" y="4638675"/>
            <a:ext cx="1323975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cxnSp>
        <p:nvCxnSpPr>
          <p:cNvPr id="580" name="直接箭头连接符 579"/>
          <p:cNvCxnSpPr>
            <a:stCxn id="546" idx="3"/>
            <a:endCxn id="547" idx="1"/>
          </p:cNvCxnSpPr>
          <p:nvPr/>
        </p:nvCxnSpPr>
        <p:spPr>
          <a:xfrm>
            <a:off x="7219950" y="4638675"/>
            <a:ext cx="1400175" cy="0"/>
          </a:xfrm>
          <a:prstGeom prst="straightConnector1">
            <a:avLst/>
          </a:prstGeom>
          <a:ln w="19050">
            <a:solidFill>
              <a:srgbClr val="2E5B9A"/>
            </a:solidFill>
            <a:prstDash val="solid"/>
            <a:tailEnd type="triangle" w="sm" len="sm"/>
          </a:ln>
        </p:spPr>
      </p:cxnSp>
      <p:sp>
        <p:nvSpPr>
          <p:cNvPr id="550" name="矩形 549"/>
          <p:cNvSpPr>
            <a:spLocks noGrp="1"/>
          </p:cNvSpPr>
          <p:nvPr/>
        </p:nvSpPr>
        <p:spPr>
          <a:xfrm>
            <a:off x="4619625" y="299085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51" name="矩形 550"/>
          <p:cNvSpPr>
            <a:spLocks noGrp="1"/>
          </p:cNvSpPr>
          <p:nvPr/>
        </p:nvSpPr>
        <p:spPr>
          <a:xfrm>
            <a:off x="4619625" y="3248025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52" name="矩形 551"/>
          <p:cNvSpPr>
            <a:spLocks noGrp="1"/>
          </p:cNvSpPr>
          <p:nvPr/>
        </p:nvSpPr>
        <p:spPr>
          <a:xfrm>
            <a:off x="1676400" y="3248025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53" name="矩形 552"/>
          <p:cNvSpPr>
            <a:spLocks noGrp="1"/>
          </p:cNvSpPr>
          <p:nvPr/>
        </p:nvSpPr>
        <p:spPr>
          <a:xfrm>
            <a:off x="1676400" y="4152900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85" name="直接箭头连接符 584"/>
          <p:cNvCxnSpPr>
            <a:stCxn id="550" idx="2"/>
            <a:endCxn id="551" idx="0"/>
          </p:cNvCxnSpPr>
          <p:nvPr/>
        </p:nvCxnSpPr>
        <p:spPr>
          <a:xfrm>
            <a:off x="4620578" y="2992755"/>
            <a:ext cx="0" cy="25527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none" w="sm" len="sm"/>
          </a:ln>
        </p:spPr>
      </p:cxnSp>
      <p:cxnSp>
        <p:nvCxnSpPr>
          <p:cNvPr id="586" name="直接箭头连接符 585"/>
          <p:cNvCxnSpPr>
            <a:stCxn id="551" idx="1"/>
            <a:endCxn id="552" idx="3"/>
          </p:cNvCxnSpPr>
          <p:nvPr/>
        </p:nvCxnSpPr>
        <p:spPr>
          <a:xfrm flipH="1">
            <a:off x="1678305" y="3248978"/>
            <a:ext cx="2941320" cy="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none" w="sm" len="sm"/>
          </a:ln>
        </p:spPr>
      </p:cxnSp>
      <p:cxnSp>
        <p:nvCxnSpPr>
          <p:cNvPr id="587" name="直接箭头连接符 586"/>
          <p:cNvCxnSpPr>
            <a:stCxn id="552" idx="2"/>
            <a:endCxn id="553" idx="0"/>
          </p:cNvCxnSpPr>
          <p:nvPr/>
        </p:nvCxnSpPr>
        <p:spPr>
          <a:xfrm>
            <a:off x="1677353" y="3249930"/>
            <a:ext cx="0" cy="90297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557" name="矩形 556"/>
          <p:cNvSpPr>
            <a:spLocks noGrp="1"/>
          </p:cNvSpPr>
          <p:nvPr/>
        </p:nvSpPr>
        <p:spPr>
          <a:xfrm>
            <a:off x="4295775" y="3476625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文件制品：GLSL / PNG</a:t>
            </a:r>
            <a:endParaRPr sz="1800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58" name="矩形 557"/>
          <p:cNvSpPr>
            <a:spLocks noGrp="1"/>
          </p:cNvSpPr>
          <p:nvPr/>
        </p:nvSpPr>
        <p:spPr>
          <a:xfrm>
            <a:off x="5715000" y="3886200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59" name="矩形 558"/>
          <p:cNvSpPr>
            <a:spLocks noGrp="1"/>
          </p:cNvSpPr>
          <p:nvPr/>
        </p:nvSpPr>
        <p:spPr>
          <a:xfrm>
            <a:off x="5715000" y="4152900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91" name="直接箭头连接符 590"/>
          <p:cNvCxnSpPr>
            <a:stCxn id="558" idx="2"/>
            <a:endCxn id="559" idx="0"/>
          </p:cNvCxnSpPr>
          <p:nvPr/>
        </p:nvCxnSpPr>
        <p:spPr>
          <a:xfrm>
            <a:off x="5715953" y="3888105"/>
            <a:ext cx="0" cy="264795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561" name="矩形 560"/>
          <p:cNvSpPr>
            <a:spLocks noGrp="1"/>
          </p:cNvSpPr>
          <p:nvPr/>
        </p:nvSpPr>
        <p:spPr>
          <a:xfrm>
            <a:off x="457200" y="5562600"/>
            <a:ext cx="4905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2025" b="1">
                <a:solidFill>
                  <a:srgbClr val="087F8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025" b="1">
                <a:solidFill>
                  <a:srgbClr val="087F8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黑板保存业务事实与引用</a:t>
            </a:r>
            <a:endParaRPr sz="2025" b="1">
              <a:solidFill>
                <a:srgbClr val="087F8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62" name="矩形 561"/>
          <p:cNvSpPr>
            <a:spLocks noGrp="1"/>
          </p:cNvSpPr>
          <p:nvPr/>
        </p:nvSpPr>
        <p:spPr>
          <a:xfrm>
            <a:off x="6000750" y="5562600"/>
            <a:ext cx="57340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2025" b="1">
                <a:solidFill>
                  <a:srgbClr val="087F8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025" b="1">
                <a:solidFill>
                  <a:srgbClr val="087F8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上下文只加载当前任务需要的材料</a:t>
            </a:r>
            <a:endParaRPr sz="2025" b="1">
              <a:solidFill>
                <a:srgbClr val="087F8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" name="Google Shape;532;p58"/>
          <p:cNvSpPr>
            <a:spLocks noGrp="1"/>
          </p:cNvSpPr>
          <p:nvPr/>
        </p:nvSpPr>
        <p:spPr>
          <a:xfrm>
            <a:off x="10763250" y="6419850"/>
            <a:ext cx="971550" cy="238125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 marL="0" indent="0" algn="r">
              <a:spcBef>
                <a:spcPts val="0"/>
              </a:spcBef>
              <a:buNone/>
              <a:defRPr sz="1275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fld id="{61C63BE3-96B4-83B2-3A5C-81F71CD5E2A2}" type="slidenum">
              <a:rPr sz="1275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</a:fld>
            <a:endParaRPr sz="1275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3" name="Google Shape;533;p58"/>
          <p:cNvSpPr>
            <a:spLocks noGrp="1"/>
          </p:cNvSpPr>
          <p:nvPr/>
        </p:nvSpPr>
        <p:spPr>
          <a:xfrm>
            <a:off x="457200" y="352425"/>
            <a:ext cx="11277600" cy="723900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  <a:buNone/>
              <a:defRPr sz="32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2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后续架构：把实验、生成与评审连接起来</a:t>
            </a:r>
            <a:endParaRPr sz="3225">
              <a:solidFill>
                <a:srgbClr val="14233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4" name="矩形 533"/>
          <p:cNvSpPr>
            <a:spLocks noGrp="1"/>
          </p:cNvSpPr>
          <p:nvPr/>
        </p:nvSpPr>
        <p:spPr>
          <a:xfrm>
            <a:off x="457200" y="1133475"/>
            <a:ext cx="112776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实线框表示已有模块基础，虚线框与连线表示待接入的职责和交接</a:t>
            </a:r>
            <a:endParaRPr sz="1875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35" name="圆角矩形 534"/>
          <p:cNvSpPr>
            <a:spLocks noGrp="1"/>
          </p:cNvSpPr>
          <p:nvPr/>
        </p:nvSpPr>
        <p:spPr>
          <a:xfrm>
            <a:off x="457200" y="2314575"/>
            <a:ext cx="3200400" cy="1028700"/>
          </a:xfrm>
          <a:prstGeom prst="roundRect">
            <a:avLst>
              <a:gd name="adj" fmla="val 6481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分析模块（已有）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实验规划与交接待接入</a:t>
            </a:r>
          </a:p>
        </p:txBody>
      </p:sp>
      <p:sp>
        <p:nvSpPr>
          <p:cNvPr id="536" name="圆角矩形 535"/>
          <p:cNvSpPr>
            <a:spLocks noGrp="1"/>
          </p:cNvSpPr>
          <p:nvPr/>
        </p:nvSpPr>
        <p:spPr>
          <a:xfrm>
            <a:off x="4467225" y="2314575"/>
            <a:ext cx="3209925" cy="1028700"/>
          </a:xfrm>
          <a:prstGeom prst="roundRect">
            <a:avLst>
              <a:gd name="adj" fmla="val 6481"/>
            </a:avLst>
          </a:prstGeom>
          <a:solidFill>
            <a:srgbClr val="EAF5F5"/>
          </a:solidFill>
          <a:ln w="15240">
            <a:solidFill>
              <a:srgbClr val="087F8C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生成与优化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实现候选、渲染、局部修正</a:t>
            </a:r>
          </a:p>
        </p:txBody>
      </p:sp>
      <p:sp>
        <p:nvSpPr>
          <p:cNvPr id="537" name="圆角矩形 536"/>
          <p:cNvSpPr>
            <a:spLocks noGrp="1"/>
          </p:cNvSpPr>
          <p:nvPr/>
        </p:nvSpPr>
        <p:spPr>
          <a:xfrm>
            <a:off x="8477250" y="2314575"/>
            <a:ext cx="3257550" cy="1028700"/>
          </a:xfrm>
          <a:prstGeom prst="roundRect">
            <a:avLst>
              <a:gd name="adj" fmla="val 6481"/>
            </a:avLst>
          </a:prstGeom>
          <a:solidFill>
            <a:srgbClr val="FFF5E5"/>
          </a:solidFill>
          <a:ln w="15240">
            <a:solidFill>
              <a:srgbClr val="AD6C13"/>
            </a:solidFill>
            <a:prstDash val="dash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独立视觉评审</a:t>
            </a:r>
          </a:p>
          <a:p>
            <a:pPr marL="0" indent="0" algn="ctr">
              <a:spcBef>
                <a:spcPts val="0"/>
              </a:spcBef>
              <a:buNone/>
              <a:defRPr sz="187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检查改善、退步与保护项</a:t>
            </a:r>
          </a:p>
        </p:txBody>
      </p:sp>
      <p:cxnSp>
        <p:nvCxnSpPr>
          <p:cNvPr id="558" name="直接箭头连接符 557"/>
          <p:cNvCxnSpPr>
            <a:stCxn id="535" idx="3"/>
            <a:endCxn id="536" idx="1"/>
          </p:cNvCxnSpPr>
          <p:nvPr/>
        </p:nvCxnSpPr>
        <p:spPr>
          <a:xfrm>
            <a:off x="3657600" y="2828925"/>
            <a:ext cx="809625" cy="0"/>
          </a:xfrm>
          <a:prstGeom prst="straightConnector1">
            <a:avLst/>
          </a:prstGeom>
          <a:ln w="19050">
            <a:solidFill>
              <a:srgbClr val="AD6C13"/>
            </a:solidFill>
            <a:prstDash val="dash"/>
            <a:tailEnd type="triangle" w="sm" len="sm"/>
          </a:ln>
        </p:spPr>
      </p:cxnSp>
      <p:cxnSp>
        <p:nvCxnSpPr>
          <p:cNvPr id="559" name="直接箭头连接符 558"/>
          <p:cNvCxnSpPr>
            <a:stCxn id="536" idx="3"/>
            <a:endCxn id="537" idx="1"/>
          </p:cNvCxnSpPr>
          <p:nvPr/>
        </p:nvCxnSpPr>
        <p:spPr>
          <a:xfrm>
            <a:off x="7677150" y="2828925"/>
            <a:ext cx="800100" cy="0"/>
          </a:xfrm>
          <a:prstGeom prst="straightConnector1">
            <a:avLst/>
          </a:prstGeom>
          <a:ln w="19050">
            <a:solidFill>
              <a:srgbClr val="AD6C13"/>
            </a:solidFill>
            <a:prstDash val="dash"/>
            <a:tailEnd type="triangle" w="sm" len="sm"/>
          </a:ln>
        </p:spPr>
      </p:cxnSp>
      <p:sp>
        <p:nvSpPr>
          <p:cNvPr id="540" name="矩形 539"/>
          <p:cNvSpPr>
            <a:spLocks noGrp="1"/>
          </p:cNvSpPr>
          <p:nvPr/>
        </p:nvSpPr>
        <p:spPr>
          <a:xfrm>
            <a:off x="10106025" y="3343275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41" name="矩形 540"/>
          <p:cNvSpPr>
            <a:spLocks noGrp="1"/>
          </p:cNvSpPr>
          <p:nvPr/>
        </p:nvSpPr>
        <p:spPr>
          <a:xfrm>
            <a:off x="10106025" y="3990975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42" name="矩形 541"/>
          <p:cNvSpPr>
            <a:spLocks noGrp="1"/>
          </p:cNvSpPr>
          <p:nvPr/>
        </p:nvSpPr>
        <p:spPr>
          <a:xfrm>
            <a:off x="2057400" y="3990975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43" name="矩形 542"/>
          <p:cNvSpPr>
            <a:spLocks noGrp="1"/>
          </p:cNvSpPr>
          <p:nvPr/>
        </p:nvSpPr>
        <p:spPr>
          <a:xfrm>
            <a:off x="2057400" y="3343275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64" name="直接箭头连接符 563"/>
          <p:cNvCxnSpPr>
            <a:stCxn id="540" idx="2"/>
            <a:endCxn id="541" idx="0"/>
          </p:cNvCxnSpPr>
          <p:nvPr/>
        </p:nvCxnSpPr>
        <p:spPr>
          <a:xfrm>
            <a:off x="10106978" y="3345180"/>
            <a:ext cx="0" cy="645795"/>
          </a:xfrm>
          <a:prstGeom prst="straightConnector1">
            <a:avLst/>
          </a:prstGeom>
          <a:ln w="19050">
            <a:solidFill>
              <a:srgbClr val="AD6C13"/>
            </a:solidFill>
            <a:prstDash val="dash"/>
            <a:tailEnd type="none" w="sm" len="sm"/>
          </a:ln>
        </p:spPr>
      </p:cxnSp>
      <p:cxnSp>
        <p:nvCxnSpPr>
          <p:cNvPr id="565" name="直接箭头连接符 564"/>
          <p:cNvCxnSpPr>
            <a:stCxn id="541" idx="1"/>
            <a:endCxn id="542" idx="3"/>
          </p:cNvCxnSpPr>
          <p:nvPr/>
        </p:nvCxnSpPr>
        <p:spPr>
          <a:xfrm flipH="1">
            <a:off x="2059305" y="3991928"/>
            <a:ext cx="8046720" cy="0"/>
          </a:xfrm>
          <a:prstGeom prst="straightConnector1">
            <a:avLst/>
          </a:prstGeom>
          <a:ln w="19050">
            <a:solidFill>
              <a:srgbClr val="AD6C13"/>
            </a:solidFill>
            <a:prstDash val="dash"/>
            <a:tailEnd type="none" w="sm" len="sm"/>
          </a:ln>
        </p:spPr>
      </p:cxnSp>
      <p:cxnSp>
        <p:nvCxnSpPr>
          <p:cNvPr id="566" name="直接箭头连接符 565"/>
          <p:cNvCxnSpPr>
            <a:stCxn id="542" idx="0"/>
            <a:endCxn id="543" idx="2"/>
          </p:cNvCxnSpPr>
          <p:nvPr/>
        </p:nvCxnSpPr>
        <p:spPr>
          <a:xfrm flipV="1">
            <a:off x="2058353" y="3345180"/>
            <a:ext cx="0" cy="645795"/>
          </a:xfrm>
          <a:prstGeom prst="straightConnector1">
            <a:avLst/>
          </a:prstGeom>
          <a:ln w="19050">
            <a:solidFill>
              <a:srgbClr val="AD6C13"/>
            </a:solidFill>
            <a:prstDash val="dash"/>
            <a:tailEnd type="triangle" w="sm" len="sm"/>
          </a:ln>
        </p:spPr>
      </p:cxnSp>
      <p:sp>
        <p:nvSpPr>
          <p:cNvPr id="547" name="矩形 546"/>
          <p:cNvSpPr>
            <a:spLocks noGrp="1"/>
          </p:cNvSpPr>
          <p:nvPr/>
        </p:nvSpPr>
        <p:spPr>
          <a:xfrm>
            <a:off x="3305175" y="4124325"/>
            <a:ext cx="65341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rgbClr val="AD6C13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0">
                <a:solidFill>
                  <a:srgbClr val="AD6C13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评审证据返回分析，支持下一步实验选择</a:t>
            </a:r>
            <a:endParaRPr sz="1800" b="0">
              <a:solidFill>
                <a:srgbClr val="AD6C13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48" name="圆角矩形 547"/>
          <p:cNvSpPr>
            <a:spLocks noGrp="1"/>
          </p:cNvSpPr>
          <p:nvPr/>
        </p:nvSpPr>
        <p:spPr>
          <a:xfrm>
            <a:off x="457200" y="4962525"/>
            <a:ext cx="7219950" cy="923925"/>
          </a:xfrm>
          <a:prstGeom prst="roundRect">
            <a:avLst>
              <a:gd name="adj" fmla="val 7216"/>
            </a:avLst>
          </a:prstGeom>
          <a:solidFill>
            <a:srgbClr val="FFF5E5"/>
          </a:solidFill>
          <a:ln w="15240">
            <a:solidFill>
              <a:srgbClr val="AD6C13"/>
            </a:solidFill>
            <a:prstDash val="dash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195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计划中的统一任务编排</a:t>
            </a:r>
          </a:p>
          <a:p>
            <a:pPr marL="0" indent="0" algn="ctr">
              <a:spcBef>
                <a:spcPts val="0"/>
              </a:spcBef>
              <a:buNone/>
              <a:defRPr sz="1950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校验目标与基线、采用或回退、预算与暂停恢复</a:t>
            </a:r>
          </a:p>
        </p:txBody>
      </p:sp>
      <p:sp>
        <p:nvSpPr>
          <p:cNvPr id="549" name="圆角矩形 548"/>
          <p:cNvSpPr>
            <a:spLocks noGrp="1"/>
          </p:cNvSpPr>
          <p:nvPr/>
        </p:nvSpPr>
        <p:spPr>
          <a:xfrm>
            <a:off x="8477250" y="4962525"/>
            <a:ext cx="3257550" cy="923925"/>
          </a:xfrm>
          <a:prstGeom prst="roundRect">
            <a:avLst>
              <a:gd name="adj" fmla="val 7216"/>
            </a:avLst>
          </a:prstGeom>
          <a:solidFill>
            <a:srgbClr val="EFF4FA"/>
          </a:solidFill>
          <a:ln w="15240">
            <a:solidFill>
              <a:srgbClr val="2E5B9A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  <a:defRPr sz="20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用户决策</a:t>
            </a:r>
          </a:p>
          <a:p>
            <a:pPr marL="0" indent="0" algn="ctr">
              <a:spcBef>
                <a:spcPts val="0"/>
              </a:spcBef>
              <a:buNone/>
              <a:defRPr sz="2025">
                <a:solidFill>
                  <a:srgbClr val="14233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重要方向与最终接受</a:t>
            </a:r>
          </a:p>
        </p:txBody>
      </p:sp>
      <p:cxnSp>
        <p:nvCxnSpPr>
          <p:cNvPr id="570" name="直接箭头连接符 569"/>
          <p:cNvCxnSpPr>
            <a:stCxn id="548" idx="3"/>
            <a:endCxn id="549" idx="1"/>
          </p:cNvCxnSpPr>
          <p:nvPr/>
        </p:nvCxnSpPr>
        <p:spPr>
          <a:xfrm>
            <a:off x="7677150" y="5424488"/>
            <a:ext cx="800100" cy="0"/>
          </a:xfrm>
          <a:prstGeom prst="straightConnector1">
            <a:avLst/>
          </a:prstGeom>
          <a:ln w="19050">
            <a:solidFill>
              <a:srgbClr val="AD6C13"/>
            </a:solidFill>
            <a:prstDash val="dash"/>
            <a:tailEnd type="triangle" w="sm" len="sm"/>
          </a:ln>
        </p:spPr>
      </p:cxnSp>
      <p:sp>
        <p:nvSpPr>
          <p:cNvPr id="551" name="矩形 550"/>
          <p:cNvSpPr>
            <a:spLocks noGrp="1"/>
          </p:cNvSpPr>
          <p:nvPr/>
        </p:nvSpPr>
        <p:spPr>
          <a:xfrm>
            <a:off x="457200" y="61150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  <a:defRPr sz="135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3647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近期重点：任务交接、可验证的局部检查、连接异常诊断与明确的完成状态</a:t>
            </a:r>
            <a:endParaRPr sz="1350" b="0">
              <a:solidFill>
                <a:srgbClr val="536474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2098</Words>
  <Application>WPS 演示</Application>
  <PresentationFormat>Converted Presentation</PresentationFormat>
  <Paragraphs>330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Arial</vt:lpstr>
      <vt:lpstr>Helvetica Neue</vt:lpstr>
      <vt:lpstr>宋体</vt:lpstr>
      <vt:lpstr>汉仪书宋二KW</vt:lpstr>
      <vt:lpstr>微软雅黑</vt:lpstr>
      <vt:lpstr>方正雅意黑 GB18030L2</vt:lpstr>
      <vt:lpstr>Arial Unicode MS</vt:lpstr>
      <vt:lpstr>Calibri</vt:lpstr>
      <vt:lpstr>Helvetica Neue</vt:lpstr>
      <vt:lpstr>Default Codex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douwen</cp:lastModifiedBy>
  <cp:revision>1</cp:revision>
  <dcterms:created xsi:type="dcterms:W3CDTF">2026-09-15T03:17:21Z</dcterms:created>
  <dcterms:modified xsi:type="dcterms:W3CDTF">2026-09-15T03:17:21Z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2052-12.1.28492.28492</vt:lpwstr>
  </property>
  <property fmtid="{D5CDD505-2E9C-101B-9397-08002B2CF9AE}" pid="3" name="ICV">
    <vt:lpwstr>509C74062DDD7D83C1B8A86AF718D2EF_42</vt:lpwstr>
  </property>
</Properties>
</file>