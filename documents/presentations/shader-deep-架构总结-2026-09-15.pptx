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012c8dfde84470" /><Relationship Type="http://schemas.openxmlformats.org/officeDocument/2006/relationships/extended-properties" Target="/docProps/app.xml" Id="R6b3754c4ebb34acd" /><Relationship Type="http://schemas.openxmlformats.org/officeDocument/2006/relationships/officeDocument" Target="/ppt/presentation.xml" Id="R2df635f08e6c43d7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9ad00a6c019042ef"/>
  </p:sldMasterIdLst>
  <p:notesMasterIdLst>
    <p:notesMasterId xmlns:r="http://schemas.openxmlformats.org/officeDocument/2006/relationships" r:id="R7679b176d27f4da8"/>
  </p:notesMasterIdLst>
  <p:sldIdLst>
    <p:sldId xmlns:r="http://schemas.openxmlformats.org/officeDocument/2006/relationships" id="256" r:id="R9d93f73a9e78408d"/>
    <p:sldId xmlns:r="http://schemas.openxmlformats.org/officeDocument/2006/relationships" id="257" r:id="R7dfbb042f0764699"/>
    <p:sldId xmlns:r="http://schemas.openxmlformats.org/officeDocument/2006/relationships" id="258" r:id="R4379f92d22cc4ee1"/>
    <p:sldId xmlns:r="http://schemas.openxmlformats.org/officeDocument/2006/relationships" id="259" r:id="Rb32c7c8d366041e5"/>
    <p:sldId xmlns:r="http://schemas.openxmlformats.org/officeDocument/2006/relationships" id="260" r:id="Rb7aa72284c8f43b6"/>
    <p:sldId xmlns:r="http://schemas.openxmlformats.org/officeDocument/2006/relationships" id="261" r:id="Rd9638677680347b4"/>
    <p:sldId xmlns:r="http://schemas.openxmlformats.org/officeDocument/2006/relationships" id="262" r:id="R3feca2eb15064bb9"/>
    <p:sldId xmlns:r="http://schemas.openxmlformats.org/officeDocument/2006/relationships" id="263" r:id="R094329666a9c44a9"/>
  </p:sldIdLst>
  <p:sldSz cx="12192000" cy="6858000"/>
  <p:notesSz cx="6858000" cy="9144000"/>
  <p:embeddedFontLst>
    <p:embeddedFont>
      <p:font typeface="OpenAI Sans"/>
      <p:regular xmlns:r="http://schemas.openxmlformats.org/officeDocument/2006/relationships" r:id="R014909dde9bd4b8e"/>
      <p:bold xmlns:r="http://schemas.openxmlformats.org/officeDocument/2006/relationships" r:id="Ra0bf80c704bf4274"/>
      <p:italic xmlns:r="http://schemas.openxmlformats.org/officeDocument/2006/relationships" r:id="Rc6df299ffbfc49de"/>
      <p:boldItalic xmlns:r="http://schemas.openxmlformats.org/officeDocument/2006/relationships" r:id="R7531ad0f8f9a489f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7a0e38ffd54bc5" /><Relationship Type="http://schemas.openxmlformats.org/officeDocument/2006/relationships/slideMaster" Target="/ppt/slideMasters/slideMaster1.xml" Id="R9ad00a6c019042ef" /><Relationship Type="http://schemas.openxmlformats.org/officeDocument/2006/relationships/notesMaster" Target="/ppt/notesMasters/notesMaster1.xml" Id="R7679b176d27f4da8" /><Relationship Type="http://schemas.openxmlformats.org/officeDocument/2006/relationships/presProps" Target="/ppt/presProps.xml" Id="R83adfcb9c44b4ea6" /><Relationship Type="http://schemas.openxmlformats.org/officeDocument/2006/relationships/viewProps" Target="/ppt/viewProps.xml" Id="Rfa9fa5874e7d4759" /><Relationship Type="http://schemas.openxmlformats.org/officeDocument/2006/relationships/tableStyles" Target="/ppt/tableStyles.xml" Id="Rc393911767494a4a" /><Relationship Type="http://schemas.openxmlformats.org/officeDocument/2006/relationships/font" Target="/ppt/fonts/font.dat" Id="R014909dde9bd4b8e" /><Relationship Type="http://schemas.openxmlformats.org/officeDocument/2006/relationships/font" Target="/ppt/fonts/font2.dat" Id="Ra0bf80c704bf4274" /><Relationship Type="http://schemas.openxmlformats.org/officeDocument/2006/relationships/font" Target="/ppt/fonts/font3.dat" Id="Rc6df299ffbfc49de" /><Relationship Type="http://schemas.openxmlformats.org/officeDocument/2006/relationships/font" Target="/ppt/fonts/font4.dat" Id="R7531ad0f8f9a489f" /><Relationship Type="http://schemas.openxmlformats.org/officeDocument/2006/relationships/slide" Target="/ppt/slides/slide1.xml" Id="R9d93f73a9e78408d" /><Relationship Type="http://schemas.openxmlformats.org/officeDocument/2006/relationships/slide" Target="/ppt/slides/slide2.xml" Id="R7dfbb042f0764699" /><Relationship Type="http://schemas.openxmlformats.org/officeDocument/2006/relationships/slide" Target="/ppt/slides/slide3.xml" Id="R4379f92d22cc4ee1" /><Relationship Type="http://schemas.openxmlformats.org/officeDocument/2006/relationships/slide" Target="/ppt/slides/slide4.xml" Id="Rb32c7c8d366041e5" /><Relationship Type="http://schemas.openxmlformats.org/officeDocument/2006/relationships/slide" Target="/ppt/slides/slide5.xml" Id="Rb7aa72284c8f43b6" /><Relationship Type="http://schemas.openxmlformats.org/officeDocument/2006/relationships/slide" Target="/ppt/slides/slide6.xml" Id="Rd9638677680347b4" /><Relationship Type="http://schemas.openxmlformats.org/officeDocument/2006/relationships/slide" Target="/ppt/slides/slide7.xml" Id="R3feca2eb15064bb9" /><Relationship Type="http://schemas.openxmlformats.org/officeDocument/2006/relationships/slide" Target="/ppt/slides/slide8.xml" Id="R094329666a9c44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e6ee701f1ef44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57201d1d9b40fd" /><Relationship Type="http://schemas.openxmlformats.org/officeDocument/2006/relationships/notesMaster" Target="/ppt/notesMasters/notesMaster1.xml" Id="Rcd2fd0dff52949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6b020853ff4429" /><Relationship Type="http://schemas.openxmlformats.org/officeDocument/2006/relationships/notesMaster" Target="/ppt/notesMasters/notesMaster1.xml" Id="Rd3144b92b1f545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c00da1ac904d96" /><Relationship Type="http://schemas.openxmlformats.org/officeDocument/2006/relationships/notesMaster" Target="/ppt/notesMasters/notesMaster1.xml" Id="Re793477c61f549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864119d8644718" /><Relationship Type="http://schemas.openxmlformats.org/officeDocument/2006/relationships/notesMaster" Target="/ppt/notesMasters/notesMaster1.xml" Id="Rf1dadd7c16a246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1812b3e8c444ada" /><Relationship Type="http://schemas.openxmlformats.org/officeDocument/2006/relationships/notesMaster" Target="/ppt/notesMasters/notesMaster1.xml" Id="R999d1d4d479e4df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0e22f81a7644d8" /><Relationship Type="http://schemas.openxmlformats.org/officeDocument/2006/relationships/notesMaster" Target="/ppt/notesMasters/notesMaster1.xml" Id="Rbe64c0b9ec3046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d1ded576f994cf7" /><Relationship Type="http://schemas.openxmlformats.org/officeDocument/2006/relationships/notesMaster" Target="/ppt/notesMasters/notesMaster1.xml" Id="R62c1ec20a5824f2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3eb2f230477445d" /><Relationship Type="http://schemas.openxmlformats.org/officeDocument/2006/relationships/notesMaster" Target="/ppt/notesMasters/notesMaster1.xml" Id="R0c4705d3d8d14e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范围：截至 2026-09-15 的本地实现与设计文档。当前属于研发与技术验证阶段，不声称生产上线或最终视觉效果已获用户验收。依据：shader-deep/apps/shader_deep/README.md。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依据：ShaderGen/README.md 与 src/agent/app/nodes/layered_direct/ARCHITECTURE.md；shaderSkill/skills/orchestrate-raster-to-shader/SKILL.md、skills/analyze-raster-for-shader/SKILL.md；shader-deep/apps/shader_deep/README.md。Skill 中的流程约定不等同于当前运行时已强制执行全部人工门。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依据：apps/shader_deep/README.md、src/shader_deep/agents/analysis.py、agents/generation.py。这里的共用基础指两条入口复用数据模型、选材与制品机制，不表示两个独立 CLI 运行之间已自动共享同一个持久化状态。分析到生成的自动交接尚未接入。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依据：src/shader_deep/agents/generation.py、tools/render.py、tools/finish.py、middleware.py。render_shader 与 finish_shader 是生成角色开放的两个工具。预览已进入上下文不证明模型认真比较了图片，也不证明视觉相似度达标。渲染器当前为 WebGL2、GLSL ES 3.00、单 Pass、无外部纹理。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依据：documents/png-to-shader/多视角分析.md 与 src/shader_deep/agents/analysis.py。首轮不读取其他视角报告，补充分析显式引用相关结果。执行器检查来源声明、条目存在性和同一父分析归属，但引用有效不等于视觉判断必然正确。主 Agent 的规划职责限于本次分析，持续生成调度尚未接入。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依据：apps/shader_deep/README.md 的业务数据与黑板、生成任务 Context Builder 章节，src/shader_deep/schemas.py、blackboard.py、context/、artifacts.py。黑板为调用方持有的内存状态，快照不是完整模型会话 checkpoint。同一黑板上的记录不会自动全部进入上下文。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依据：apps/shader_deep/README.md 的生成闭环、独立多视角分析、LangSmith 追踪和开发检查章节。默认生成尝试上限为 3，模型轮数上限 max_attempts+2。分析默认总任务数 6、并发 3、每个子 Agent 3 次、主 Agent 8 次模型调用。次数预算不含 HTTP 客户端内部重试，也不代表 token 或总时长上限。本页描述已有检查类型，不声明本次制作 PPT 重新执行了代码测试。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依据：documents/png-to-shader/分层生成流程.md（V3，2026-09-09，待实现架构设计）与 apps/shader_deep/README.md 当前实现边界。LangGraph 全局编排、持续决策、独立视觉评审、自动衔接及完整暂停恢复属于后续设计。本页不承诺完成时间、生产上线或已量化收益。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f334fd59404d8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e8237ffaaf487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44860be94d424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436a72f94c493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d533330426440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530d74cca74e3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0c2a52f5134f0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5b955b6b6448bb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7d870cc1244a31" /><Relationship Type="http://schemas.openxmlformats.org/officeDocument/2006/relationships/slideLayout" Target="/ppt/slideLayouts/slideLayout1.xml" Id="R4dadc24313354247" /><Relationship Type="http://schemas.openxmlformats.org/officeDocument/2006/relationships/slideLayout" Target="/ppt/slideLayouts/slideLayout2.xml" Id="Rcacec6dd74aa4dab" /><Relationship Type="http://schemas.openxmlformats.org/officeDocument/2006/relationships/slideLayout" Target="/ppt/slideLayouts/slideLayout3.xml" Id="Rcf51061bd39e477a" /><Relationship Type="http://schemas.openxmlformats.org/officeDocument/2006/relationships/slideLayout" Target="/ppt/slideLayouts/slideLayout4.xml" Id="Rdf927001303d49ba" /><Relationship Type="http://schemas.openxmlformats.org/officeDocument/2006/relationships/slideLayout" Target="/ppt/slideLayouts/slideLayout5.xml" Id="Rc619012c9da2432d" /><Relationship Type="http://schemas.openxmlformats.org/officeDocument/2006/relationships/slideLayout" Target="/ppt/slideLayouts/slideLayout6.xml" Id="R7fcade64b1624ffd" /><Relationship Type="http://schemas.openxmlformats.org/officeDocument/2006/relationships/slideLayout" Target="/ppt/slideLayouts/slideLayout7.xml" Id="Rb525d6bedd3947ad" /><Relationship Type="http://schemas.openxmlformats.org/officeDocument/2006/relationships/slideLayout" Target="/ppt/slideLayouts/slideLayout8.xml" Id="Rc30022bc6745441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adc24313354247"/>
    <p:sldLayoutId xmlns:r="http://schemas.openxmlformats.org/officeDocument/2006/relationships" id="2147483650" r:id="Rcacec6dd74aa4dab"/>
    <p:sldLayoutId xmlns:r="http://schemas.openxmlformats.org/officeDocument/2006/relationships" id="2147483651" r:id="Rcf51061bd39e477a"/>
    <p:sldLayoutId xmlns:r="http://schemas.openxmlformats.org/officeDocument/2006/relationships" id="2147483652" r:id="Rdf927001303d49ba"/>
    <p:sldLayoutId xmlns:r="http://schemas.openxmlformats.org/officeDocument/2006/relationships" id="2147483653" r:id="Rc619012c9da2432d"/>
    <p:sldLayoutId xmlns:r="http://schemas.openxmlformats.org/officeDocument/2006/relationships" id="2147483654" r:id="R7fcade64b1624ffd"/>
    <p:sldLayoutId xmlns:r="http://schemas.openxmlformats.org/officeDocument/2006/relationships" id="2147483655" r:id="Rb525d6bedd3947ad"/>
    <p:sldLayoutId xmlns:r="http://schemas.openxmlformats.org/officeDocument/2006/relationships" id="2147483656" r:id="Rc30022bc6745441e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347cb058474e51" /><Relationship Type="http://schemas.openxmlformats.org/officeDocument/2006/relationships/notesSlide" Target="/ppt/notesSlides/notesSlide1.xml" Id="Rbb7189e2e7d848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5899e5ff1f4ad0" /><Relationship Type="http://schemas.openxmlformats.org/officeDocument/2006/relationships/notesSlide" Target="/ppt/notesSlides/notesSlide2.xml" Id="Raadcde958a514d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0a94557a914027" /><Relationship Type="http://schemas.openxmlformats.org/officeDocument/2006/relationships/notesSlide" Target="/ppt/notesSlides/notesSlide3.xml" Id="Rc8a7bd76f7194fd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ece9231cda4fd2" /><Relationship Type="http://schemas.openxmlformats.org/officeDocument/2006/relationships/notesSlide" Target="/ppt/notesSlides/notesSlide4.xml" Id="Re675aaa9df03480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f1bf34fd974ffe" /><Relationship Type="http://schemas.openxmlformats.org/officeDocument/2006/relationships/notesSlide" Target="/ppt/notesSlides/notesSlide5.xml" Id="Rdb4e4434fce64ac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1525481456434f" /><Relationship Type="http://schemas.openxmlformats.org/officeDocument/2006/relationships/notesSlide" Target="/ppt/notesSlides/notesSlide6.xml" Id="Radb74bc9536b476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0538d31dc34189" /><Relationship Type="http://schemas.openxmlformats.org/officeDocument/2006/relationships/notesSlide" Target="/ppt/notesSlides/notesSlide7.xml" Id="R84315f8dbc9b416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d8c2780d6a4328" /><Relationship Type="http://schemas.openxmlformats.org/officeDocument/2006/relationships/notesSlide" Target="/ppt/notesSlides/notesSlide8.xml" Id="R5c836f2ccae449a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738755"/>
            <a:ext cx="9448800" cy="2491490"/>
          </a:xfr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1000"/>
              </a:spcAft>
              <a:buNone/>
              <a:defRPr sz="54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shader-deep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1000"/>
              </a:spcAft>
              <a:buNone/>
              <a:defRPr sz="54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当前架构与阶段进展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283B85AD-626B-46B7-0C36-31F5BABD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9525000" cy="1333500"/>
          </a:xfr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700"/>
              </a:spcAft>
              <a:buNone/>
              <a:defRPr sz="20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PNG 到 Shader 的 Agent 工程实践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700"/>
              </a:spcAft>
              <a:buNone/>
              <a:defRPr sz="20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实习工作总结附件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700"/>
              </a:spcAft>
              <a:buNone/>
              <a:defRPr sz="20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2026 年 9 月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57023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700"/>
              </a:spcAft>
              <a:buNone/>
              <a:defRPr sz="18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技术架构总结</a:t>
            </a:r>
          </a:p>
        </p:txBody>
      </p:sp>
    </p:spTree>
    <p:extLst>
      <p:ext uri="{BB962C8B-B14F-4D97-AF65-F5344CB8AC3E}">
        <p14:creationId xmlns:p14="http://schemas.microsoft.com/office/powerpoint/2010/main" val="32587833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/>
            </a:r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700"/>
              </a:spcAft>
              <a:buNone/>
              <a:defRPr sz="13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700"/>
              </a:spcAft>
              <a:buNone/>
              <a:defRPr sz="34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项目演进与方法沉淀</a:t>
            </a:r>
          </a:p>
        </p:txBody>
      </p:sp>
      <p:cxnSp>
        <p:nvCxnSpPr>
          <p:cNvPr id="24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18" y="3373753"/>
            <a:ext cx="11401425" cy="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/>
            </a: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/>
            </a: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/>
            </a: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700"/>
              </a:spcAft>
              <a:buNone/>
              <a:defRPr sz="18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前期探索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87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700"/>
              </a:spcAft>
              <a:buNone/>
              <a:defRPr sz="18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方法迭代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49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700"/>
              </a:spcAft>
              <a:buNone/>
              <a:defRPr sz="18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当前推进</a:t>
            </a:r>
          </a:p>
        </p:txBody>
      </p:sp>
      <p:sp>
        <p:nvSpPr>
          <p:cNvPr id="8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D0EE3B6B-F07C-271E-2F97-41D7686F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8" y="3822700"/>
            <a:ext cx="3381375" cy="2238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1500"/>
              </a:spcAft>
              <a:buNone/>
              <a:defRPr sz="1875"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Skill 快速试验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1000"/>
              </a:spcAft>
              <a:buNone/>
              <a:defRPr sz="1875"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将多视角分析、机制比较和人工验收整理为可复用流程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1000"/>
              </a:spcAft>
              <a:buNone/>
              <a:defRPr sz="1875"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先验证表示，再细化参数</a:t>
            </a:r>
          </a:p>
        </p:txBody>
      </p:sp>
      <p:sp>
        <p:nvSpPr>
          <p:cNvPr id="15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B3EA0E10-C778-6971-AFB5-9B9B52B0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73" y="3822700"/>
            <a:ext cx="3381375" cy="2238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1500"/>
              </a:spcAft>
              <a:buNone/>
              <a:defRPr sz="1875"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PNG 到 Shader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1000"/>
              </a:spcAft>
              <a:buNone/>
              <a:defRPr sz="1875"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在 ShaderGen 等项目中探索图像拆解、代码生成与真实渲染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1000"/>
              </a:spcAft>
              <a:buNone/>
              <a:defRPr sz="1875"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积累生成和反馈优化经验</a:t>
            </a:r>
          </a:p>
        </p:txBody>
      </p:sp>
      <p:sp>
        <p:nvSpPr>
          <p:cNvPr id="19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5A9F39A9-7A23-0F85-F761-1AB9FA6B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917" y="3822700"/>
            <a:ext cx="3381375" cy="2238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1500"/>
              </a:spcAft>
              <a:buNone/>
              <a:defRPr sz="1875"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shader-deep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1000"/>
              </a:spcAft>
              <a:buNone/>
              <a:defRPr sz="1875"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基于 Deep Agents 实现生成闭环与独立分析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1000"/>
              </a:spcAft>
              <a:buNone/>
              <a:defRPr sz="1875"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逐步将有效方法落实为模块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FA9930-5585-460D-B5A3-A0D527E1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85925"/>
            <a:ext cx="11315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buNone/>
              <a:defRPr sz="2175"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持续关注：参考图的视觉特征能否通过可执行、可调整的 Shader 表达</a:t>
            </a:r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/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700"/>
              </a:spcAft>
              <a:buNone/>
              <a:defRPr sz="13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700"/>
              </a:spcAft>
              <a:buNone/>
              <a:defRPr sz="34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当前架构：独立任务与共用基础</a:t>
            </a:r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DA571976-F43B-4F67-8603-52874780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buNone/>
              <a:defRPr sz="2100"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输入为参考 PNG 与文字要求，分析和生成目前分别运行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B441E37A-F55D-4142-B49A-96D65B41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43150"/>
            <a:ext cx="28098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C8C8C8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400"/>
              </a:spcAft>
              <a:buNone/>
              <a:defRPr sz="2025"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分析入口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400"/>
              </a:spcAft>
              <a:buNone/>
              <a:defRPr sz="2025"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shader-deep-analyze</a:t>
            </a:r>
          </a:p>
        </p:txBody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6149A082-7318-4CC2-B4BA-AFDB993C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43150"/>
            <a:ext cx="3429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C8C8C8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400"/>
              </a:spcAft>
              <a:buNone/>
              <a:defRPr sz="2025"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主分析 Agent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400"/>
              </a:spcAft>
              <a:buNone/>
              <a:defRPr sz="2025"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独立视角与综合</a:t>
            </a:r>
          </a:p>
        </p:txBody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EFE6B120-6C7F-4D5F-BBEB-969A969F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43150"/>
            <a:ext cx="31908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C8C8C8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400"/>
              </a:spcAft>
              <a:buNone/>
              <a:defRPr sz="2025"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分析报告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400"/>
              </a:spcAft>
              <a:buNone/>
              <a:defRPr sz="2025"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原始观察与来源引用</a:t>
            </a:r>
          </a:p>
        </p:txBody>
      </p:sp>
      <p:cxnSp>
        <p:nvCxnSpPr>
          <p:cNvPr id="554" name=""/>
          <p:cNvCxnSpPr>
            <a:stCxn xmlns:a="http://schemas.openxmlformats.org/drawingml/2006/main" id="535" idx="3"/>
            <a:endCxn xmlns:a="http://schemas.openxmlformats.org/drawingml/2006/main" id="536" idx="1"/>
          </p:cNvCxnSpPr>
          <p:nvPr/>
        </p:nvCxnSpPr>
        <p:spPr>
          <a:xfrm xmlns:a="http://schemas.openxmlformats.org/drawingml/2006/main">
            <a:off x="3200400" y="2867025"/>
            <a:ext cx="9906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55555"/>
            </a:solidFill>
            <a:tailEnd type="triangle" w="sm" len="sm"/>
          </a:ln>
        </p:spPr>
      </p:cxnSp>
      <p:cxnSp>
        <p:nvCxnSpPr>
          <p:cNvPr id="555" name=""/>
          <p:cNvCxnSpPr>
            <a:stCxn xmlns:a="http://schemas.openxmlformats.org/drawingml/2006/main" id="536" idx="3"/>
            <a:endCxn xmlns:a="http://schemas.openxmlformats.org/drawingml/2006/main" id="537" idx="1"/>
          </p:cNvCxnSpPr>
          <p:nvPr/>
        </p:nvCxnSpPr>
        <p:spPr>
          <a:xfrm xmlns:a="http://schemas.openxmlformats.org/drawingml/2006/main">
            <a:off x="7620000" y="2867025"/>
            <a:ext cx="9906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55555"/>
            </a:solidFill>
            <a:tailEnd type="triangle" w="sm" len="sm"/>
          </a:ln>
        </p:spPr>
      </p:cxn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F55DDA41-2CE5-41FF-BD04-4F8356A2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95725"/>
            <a:ext cx="28098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C8C8C8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400"/>
              </a:spcAft>
              <a:buNone/>
              <a:defRPr sz="2025"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生成入口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400"/>
              </a:spcAft>
              <a:buNone/>
              <a:defRPr sz="2025"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shader-deep</a:t>
            </a:r>
          </a:p>
        </p:txBody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9001584E-2BD3-4701-8533-76F29198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95725"/>
            <a:ext cx="3429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C8C8C8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400"/>
              </a:spcAft>
              <a:buNone/>
              <a:defRPr sz="2025"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生成 Agent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400"/>
              </a:spcAft>
              <a:buNone/>
              <a:defRPr sz="2025"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渲染、看图与修正</a:t>
            </a:r>
          </a:p>
        </p:txBody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47453C5A-88C8-4F62-9B1F-7882345C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95725"/>
            <a:ext cx="31908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C8C8C8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400"/>
              </a:spcAft>
              <a:buNone/>
              <a:defRPr sz="2025"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候选制品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400"/>
              </a:spcAft>
              <a:buNone/>
              <a:defRPr sz="2025"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GLSL 与真实预览</a:t>
            </a:r>
          </a:p>
        </p:txBody>
      </p:sp>
      <p:cxnSp>
        <p:nvCxnSpPr>
          <p:cNvPr id="559" name=""/>
          <p:cNvCxnSpPr>
            <a:stCxn xmlns:a="http://schemas.openxmlformats.org/drawingml/2006/main" id="540" idx="3"/>
            <a:endCxn xmlns:a="http://schemas.openxmlformats.org/drawingml/2006/main" id="541" idx="1"/>
          </p:cNvCxnSpPr>
          <p:nvPr/>
        </p:nvCxnSpPr>
        <p:spPr>
          <a:xfrm xmlns:a="http://schemas.openxmlformats.org/drawingml/2006/main">
            <a:off x="3200400" y="4419600"/>
            <a:ext cx="9906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55555"/>
            </a:solidFill>
            <a:tailEnd type="triangle" w="sm" len="sm"/>
          </a:ln>
        </p:spPr>
      </p:cxnSp>
      <p:cxnSp>
        <p:nvCxnSpPr>
          <p:cNvPr id="560" name=""/>
          <p:cNvCxnSpPr>
            <a:stCxn xmlns:a="http://schemas.openxmlformats.org/drawingml/2006/main" id="541" idx="3"/>
            <a:endCxn xmlns:a="http://schemas.openxmlformats.org/drawingml/2006/main" id="542" idx="1"/>
          </p:cNvCxnSpPr>
          <p:nvPr/>
        </p:nvCxnSpPr>
        <p:spPr>
          <a:xfrm xmlns:a="http://schemas.openxmlformats.org/drawingml/2006/main">
            <a:off x="7620000" y="4419600"/>
            <a:ext cx="9906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55555"/>
            </a:solidFill>
            <a:tailEnd type="triangle" w="sm" len="sm"/>
          </a:ln>
        </p:spPr>
      </p:cxn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68F62E0B-9D69-433D-93D2-43D75AF9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457825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buNone/>
              <a:defRPr sz="2175"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共用基础</a:t>
            </a:r>
          </a:p>
        </p:txBody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298BCD80-7E33-4877-91AC-E177B1892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476875"/>
            <a:ext cx="962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buNone/>
              <a:defRPr sz="1950"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Blackboard 业务记录    Context Builder 选材    运行快照与追踪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/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700"/>
              </a:spcAft>
              <a:buNone/>
              <a:defRPr sz="13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700"/>
              </a:spcAft>
              <a:buNone/>
              <a:defRPr sz="34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生成闭环：真实渲染驱动修正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1500"/>
              </a:spcAft>
              <a:buNone/>
              <a:defRPr sz="2175"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每轮如何推进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1000"/>
              </a:spcAft>
              <a:buNone/>
              <a:defRPr sz="2175"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01  加载参考图与任务材料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1000"/>
              </a:spcAft>
              <a:buNone/>
              <a:defRPr sz="2175"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02  生成 GLSL 并调用渲染工具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1000"/>
              </a:spcAft>
              <a:buNone/>
              <a:defRPr sz="2175"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03  接收编译错误或真实预览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1000"/>
              </a:spcAft>
              <a:buNone/>
              <a:defRPr sz="2175"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04  对照参考修正，或选定候选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1500"/>
              </a:spcAft>
              <a:buNone/>
              <a:defRPr sz="2100"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完成条件与输出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1000"/>
              </a:spcAft>
              <a:buNone/>
              <a:defRPr sz="2100"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候选须成功渲染，预览须进入后续模型上下文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1000"/>
              </a:spcAft>
              <a:buNone/>
              <a:defRPr sz="2100"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读取选定文件中的实际代码，保存预览与停止原因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1000"/>
              </a:spcAft>
              <a:buNone/>
              <a:defRPr sz="2100"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模型自检完成后，仍需用户视觉验收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B4523B68-CB58-F426-D824-531128F4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/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BC152D0-CDF3-969A-A32E-0A1C97DA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700"/>
              </a:spcAft>
              <a:buNone/>
              <a:defRPr sz="13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CA28587-E9DB-FD6E-67D5-B6C4D2034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700"/>
              </a:spcAft>
              <a:buNone/>
              <a:defRPr sz="34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多视角分析：独立观察与证据综合</a:t>
            </a:r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2575F3F3-5548-310C-CA8A-2BB5F4F1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9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700"/>
              </a:spcAft>
              <a:buNone/>
              <a:def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选择分析问题，固定输入与视角配置</a:t>
            </a:r>
          </a:p>
        </p:txBody>
      </p:sp>
      <p:sp>
        <p:nvSpPr>
          <p:cNvPr id="1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0C3B7B-28A7-FE2B-805B-9E84EA8C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23749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700"/>
              </a:spcAft>
              <a:buNone/>
              <a:defRPr sz="21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任务规划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989BD75-DE8D-B290-9745-1D9E8821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5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700"/>
              </a:spcAft>
              <a:buNone/>
              <a:def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覆盖 2D 图形、3D 空间、美学与物理组成</a:t>
            </a: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53F591C-9E43-179D-176D-24989B8B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33655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700"/>
              </a:spcAft>
              <a:buNone/>
              <a:defRPr sz="21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独立分析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7B38CBA-379D-8AEA-4C18-49046133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1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700"/>
              </a:spcAft>
              <a:buNone/>
              <a:def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引用原始报告，保留分歧，按需补充分析</a:t>
            </a:r>
          </a:p>
        </p:txBody>
      </p:sp>
      <p:sp>
        <p:nvSpPr>
          <p:cNvPr id="1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58135D-EC8F-1FA0-D966-C8D4FA20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43561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700"/>
              </a:spcAft>
              <a:buNone/>
              <a:defRPr sz="21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证据综合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9682F0D-6358-B00F-89D9-1AC3709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700"/>
              </a:spcAft>
              <a:buNone/>
              <a:defRPr sz="19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保存综合报告、失败记录与未解决问题</a:t>
            </a:r>
          </a:p>
        </p:txBody>
      </p:sp>
      <p:sp>
        <p:nvSpPr>
          <p:cNvPr id="2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58787E0-CB4B-BCAC-702A-ECD3032D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53594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700"/>
              </a:spcAft>
              <a:buNone/>
              <a:defRPr sz="21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结果保存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82CDA0F-E73C-7EBB-EE08-FECCE69C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1"/>
            <a:ext cx="3568700" cy="361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1500"/>
              </a:spcAft>
              <a:buNone/>
              <a:defRPr sz="2025"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分析如何减少盲区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1000"/>
              </a:spcAft>
              <a:buNone/>
              <a:defRPr sz="2025"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主 Agent 选择预置视角，也可创建新视角配置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1000"/>
              </a:spcAft>
              <a:buNone/>
              <a:defRPr sz="2025"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首轮独立分析相同参考图，保留不同解释与不确定性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1000"/>
              </a:spcAft>
              <a:buNone/>
              <a:defRPr sz="2025"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综合报告支持后续实验</a:t>
            </a:r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/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700"/>
              </a:spcAft>
              <a:buNone/>
              <a:defRPr sz="13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700"/>
              </a:spcAft>
              <a:buNone/>
              <a:defRPr sz="34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业务状态与模型上下文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1500"/>
              </a:spcAft>
              <a:buNone/>
              <a:defRPr sz="2025"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Blackboard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1000"/>
              </a:spcAft>
              <a:buNone/>
              <a:defRPr sz="2025"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保存目标、任务、候选与结果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1000"/>
              </a:spcAft>
              <a:buNone/>
              <a:defRPr sz="2025"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关联来源、基线与历史结果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1000"/>
              </a:spcAft>
              <a:buNone/>
              <a:defRPr sz="2025"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观察与机制假设分别记录</a:t>
            </a: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500"/>
            <a:ext cx="3568700" cy="2628900"/>
          </a:xfr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1500"/>
              </a:spcAft>
              <a:buNone/>
              <a:defRPr sz="2025"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制品与运行记录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1000"/>
              </a:spcAft>
              <a:buNone/>
              <a:defRPr sz="2025"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GLSL、PNG 保存在文件中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1000"/>
              </a:spcAft>
              <a:buNone/>
              <a:defRPr sz="2025"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run.json 保存业务快照、选择与停止原因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1000"/>
              </a:spcAft>
              <a:buNone/>
              <a:defRPr sz="2025"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快照尚不等于可恢复会话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3365500"/>
            <a:ext cx="3568700" cy="2628900"/>
          </a:xfr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1500"/>
              </a:spcAft>
              <a:buNone/>
              <a:defRPr sz="2025"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Context Builder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1000"/>
              </a:spcAft>
              <a:buNone/>
              <a:defRPr sz="2025"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按当前任务选择材料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1000"/>
              </a:spcAft>
              <a:buNone/>
              <a:defRPr sz="2025"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加载参考图、代码和预览，加入相关反馈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1000"/>
              </a:spcAft>
              <a:buNone/>
              <a:defRPr sz="2025"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每轮模型调用前刷新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D151E64C-89CB-44D2-B859-A5926476C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33550"/>
            <a:ext cx="114014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buNone/>
              <a:defRPr sz="2400"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记录负责保留事实和来源，选材负责构造本轮模型输入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/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700"/>
              </a:spcAft>
              <a:buNone/>
              <a:defRPr sz="13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700"/>
              </a:spcAft>
              <a:buNone/>
              <a:defRPr sz="34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执行约束与验证依据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1500"/>
              </a:spcAft>
              <a:buNone/>
              <a:defRPr sz="2100"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程序控制执行边界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1000"/>
              </a:spcAft>
              <a:buNone/>
              <a:defRPr sz="2100"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限制模型调用、渲染尝试和分析并发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1000"/>
              </a:spcAft>
              <a:buNone/>
              <a:defRPr sz="2100"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按角色限制工具范围，保存失败与未完成状态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1000"/>
              </a:spcAft>
              <a:buNone/>
              <a:defRPr sz="2100"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浏览器在专用线程中串行使用，结束后释放资源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1500"/>
              </a:spcAft>
              <a:buNone/>
              <a:defRPr sz="2100"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过程记录支持排查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1000"/>
              </a:spcAft>
              <a:buNone/>
              <a:defRPr sz="2100"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本地保留候选、预览与运行快照，可配置 LangSmith 追踪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1000"/>
              </a:spcAft>
              <a:buNone/>
              <a:defRPr sz="2100"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单元测试覆盖业务规则与模拟模型链路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1000"/>
              </a:spcAft>
              <a:buNone/>
              <a:defRPr sz="2100"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浏览器集成测试验证真实编译和渲染，模型视觉质量需单独验证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/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700"/>
              </a:spcAft>
              <a:buNone/>
              <a:defRPr sz="13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700"/>
              </a:spcAft>
              <a:buNone/>
              <a:defRPr sz="34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后续演进：分析、生成与独立评审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1500"/>
              </a:spcAft>
              <a:buNone/>
              <a:defRPr sz="2025"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分析与实验规划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1000"/>
              </a:spcAft>
              <a:buNone/>
              <a:defRPr sz="2025"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已有多视角分析与综合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1000"/>
              </a:spcAft>
              <a:buNone/>
              <a:defRPr sz="2025"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下一步：形成实验任务，衔接生成与后续决策</a:t>
            </a: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500"/>
            <a:ext cx="3568700" cy="2628900"/>
          </a:xfr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1500"/>
              </a:spcAft>
              <a:buNone/>
              <a:defRPr sz="2025"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独立视觉评审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1000"/>
              </a:spcAft>
              <a:buNone/>
              <a:defRPr sz="2025"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当前处于架构规划阶段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1000"/>
              </a:spcAft>
              <a:buNone/>
              <a:defRPr sz="2025"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下一步：独立检查改善、退步与保护项，向分析提供反馈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1000"/>
              </a:spcAft>
              <a:buNone/>
              <a:defRPr sz="2025"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最终接受由用户决定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3365500"/>
            <a:ext cx="3568700" cy="2628900"/>
          </a:xfr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1500"/>
              </a:spcAft>
              <a:buNone/>
              <a:defRPr sz="2025"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生成与优化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1000"/>
              </a:spcAft>
              <a:buNone/>
              <a:defRPr sz="2025"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已有生成、渲染和修正闭环</a:t>
            </a:r>
          </a:p>
          <a:p xmlns:a="http://schemas.openxmlformats.org/drawingml/2006/main">
            <a:pPr marL="0" indent="0">
              <a:spcBef>
                <a:spcPts val="0"/>
              </a:spcBef>
              <a:spcAft>
                <a:spcPts val="1000"/>
              </a:spcAft>
              <a:buNone/>
              <a:defRPr sz="2025"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下一步：绑定基线，推进局部实验与候选比较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D5966BBE-3A9D-4C62-8013-1C908354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85925"/>
            <a:ext cx="114014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buNone/>
              <a:defRPr sz="2250"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当前已分别实现生成闭环与多视角分析，后续重点是任务衔接和效果验证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2026-09-15T03:03:29.8550000Z</dcterms:created>
  <dcterms:modified xsi:type="dcterms:W3CDTF">2026-09-15T03:03:29.8550000Z</dcterms:modified>
</coreProperties>
</file>